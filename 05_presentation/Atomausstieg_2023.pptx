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oboto"/>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e4ec5316e0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e4ec5316e0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a8c1c685c6_0_2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a8c1c685c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8c1c685c6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8c1c685c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c6f73a04f_0_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c6f73a04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c6f73a04f_0_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c6f73a04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a8c1c685c6_0_10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a8c1c685c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8c1c685c6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8c1c685c6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8c1c685c6_0_15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8c1c685c6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8c1c685c6_0_5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a8c1c685c6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8c1c685c6_0_2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8c1c685c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8c1c685c6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a8c1c685c6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8c1c685c6_0_1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a8c1c685c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8c1c685c6_0_7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8c1c685c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8c1c685c6_0_16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8c1c685c6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a8c1c685c6_0_1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a8c1c685c6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8c1c685c6_0_5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8c1c685c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8c1c685c6_0_11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8c1c685c6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a8c1c685c6_0_4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a8c1c685c6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a8c1c685c6_0_4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a8c1c685c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a8c1c685c6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a8c1c685c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8c1c685c6_0_9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8c1c685c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a8c1c685c6_0_19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a8c1c685c6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a8c1c685c6_0_9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a8c1c685c6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8c1c685c6_0_10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8c1c685c6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1600"/>
              </a:spcBef>
              <a:spcAft>
                <a:spcPts val="0"/>
              </a:spcAft>
              <a:buClr>
                <a:schemeClr val="lt1"/>
              </a:buClr>
              <a:buSzPts val="1200"/>
              <a:buChar char="○"/>
              <a:defRPr sz="1200">
                <a:solidFill>
                  <a:schemeClr val="lt1"/>
                </a:solidFill>
              </a:defRPr>
            </a:lvl2pPr>
            <a:lvl3pPr indent="-304800" lvl="2" marL="1371600">
              <a:spcBef>
                <a:spcPts val="1600"/>
              </a:spcBef>
              <a:spcAft>
                <a:spcPts val="0"/>
              </a:spcAft>
              <a:buClr>
                <a:schemeClr val="lt1"/>
              </a:buClr>
              <a:buSzPts val="1200"/>
              <a:buChar char="■"/>
              <a:defRPr sz="1200">
                <a:solidFill>
                  <a:schemeClr val="lt1"/>
                </a:solidFill>
              </a:defRPr>
            </a:lvl3pPr>
            <a:lvl4pPr indent="-304800" lvl="3" marL="1828800">
              <a:spcBef>
                <a:spcPts val="1600"/>
              </a:spcBef>
              <a:spcAft>
                <a:spcPts val="0"/>
              </a:spcAft>
              <a:buClr>
                <a:schemeClr val="lt1"/>
              </a:buClr>
              <a:buSzPts val="1200"/>
              <a:buChar char="●"/>
              <a:defRPr sz="1200">
                <a:solidFill>
                  <a:schemeClr val="lt1"/>
                </a:solidFill>
              </a:defRPr>
            </a:lvl4pPr>
            <a:lvl5pPr indent="-304800" lvl="4" marL="2286000">
              <a:spcBef>
                <a:spcPts val="1600"/>
              </a:spcBef>
              <a:spcAft>
                <a:spcPts val="0"/>
              </a:spcAft>
              <a:buClr>
                <a:schemeClr val="lt1"/>
              </a:buClr>
              <a:buSzPts val="1200"/>
              <a:buChar char="○"/>
              <a:defRPr sz="1200">
                <a:solidFill>
                  <a:schemeClr val="lt1"/>
                </a:solidFill>
              </a:defRPr>
            </a:lvl5pPr>
            <a:lvl6pPr indent="-304800" lvl="5" marL="2743200">
              <a:spcBef>
                <a:spcPts val="1600"/>
              </a:spcBef>
              <a:spcAft>
                <a:spcPts val="0"/>
              </a:spcAft>
              <a:buClr>
                <a:schemeClr val="lt1"/>
              </a:buClr>
              <a:buSzPts val="1200"/>
              <a:buChar char="■"/>
              <a:defRPr sz="1200">
                <a:solidFill>
                  <a:schemeClr val="lt1"/>
                </a:solidFill>
              </a:defRPr>
            </a:lvl6pPr>
            <a:lvl7pPr indent="-304800" lvl="6" marL="3200400">
              <a:spcBef>
                <a:spcPts val="1600"/>
              </a:spcBef>
              <a:spcAft>
                <a:spcPts val="0"/>
              </a:spcAft>
              <a:buClr>
                <a:schemeClr val="lt1"/>
              </a:buClr>
              <a:buSzPts val="1200"/>
              <a:buChar char="●"/>
              <a:defRPr sz="1200">
                <a:solidFill>
                  <a:schemeClr val="lt1"/>
                </a:solidFill>
              </a:defRPr>
            </a:lvl7pPr>
            <a:lvl8pPr indent="-304800" lvl="7" marL="3657600">
              <a:spcBef>
                <a:spcPts val="1600"/>
              </a:spcBef>
              <a:spcAft>
                <a:spcPts val="0"/>
              </a:spcAft>
              <a:buClr>
                <a:schemeClr val="lt1"/>
              </a:buClr>
              <a:buSzPts val="1200"/>
              <a:buChar char="○"/>
              <a:defRPr sz="1200">
                <a:solidFill>
                  <a:schemeClr val="lt1"/>
                </a:solidFill>
              </a:defRPr>
            </a:lvl8pPr>
            <a:lvl9pPr indent="-304800" lvl="8" marL="4114800">
              <a:spcBef>
                <a:spcPts val="1600"/>
              </a:spcBef>
              <a:spcAft>
                <a:spcPts val="160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93C47D"/>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4.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69" name="Google Shape;69;p13" title="gheorghe-lupan-zJ71muVYx_g-unsplash.jpg"/>
          <p:cNvPicPr preferRelativeResize="0"/>
          <p:nvPr/>
        </p:nvPicPr>
        <p:blipFill>
          <a:blip r:embed="rId3">
            <a:alphaModFix amt="82000"/>
          </a:blip>
          <a:stretch>
            <a:fillRect/>
          </a:stretch>
        </p:blipFill>
        <p:spPr>
          <a:xfrm>
            <a:off x="0" y="0"/>
            <a:ext cx="9144003" cy="5143501"/>
          </a:xfrm>
          <a:prstGeom prst="rect">
            <a:avLst/>
          </a:prstGeom>
          <a:noFill/>
          <a:ln>
            <a:noFill/>
          </a:ln>
        </p:spPr>
      </p:pic>
      <p:sp>
        <p:nvSpPr>
          <p:cNvPr id="70" name="Google Shape;70;p13"/>
          <p:cNvSpPr txBox="1"/>
          <p:nvPr/>
        </p:nvSpPr>
        <p:spPr>
          <a:xfrm>
            <a:off x="35175" y="777425"/>
            <a:ext cx="9108600" cy="2339700"/>
          </a:xfrm>
          <a:prstGeom prst="rect">
            <a:avLst/>
          </a:prstGeom>
          <a:noFill/>
          <a:ln>
            <a:noFill/>
          </a:ln>
        </p:spPr>
        <p:txBody>
          <a:bodyPr anchorCtr="0" anchor="b" bIns="91425" lIns="91425" spcFirstLastPara="1" rIns="91425" wrap="square" tIns="91425">
            <a:spAutoFit/>
          </a:bodyPr>
          <a:lstStyle/>
          <a:p>
            <a:pPr indent="0" lvl="0" marL="0" rtl="0" algn="ctr">
              <a:spcBef>
                <a:spcPts val="0"/>
              </a:spcBef>
              <a:spcAft>
                <a:spcPts val="0"/>
              </a:spcAft>
              <a:buNone/>
            </a:pPr>
            <a:r>
              <a:rPr b="1" lang="en" sz="2800">
                <a:solidFill>
                  <a:srgbClr val="FFFFFF"/>
                </a:solidFill>
                <a:latin typeface="Roboto"/>
                <a:ea typeface="Roboto"/>
                <a:cs typeface="Roboto"/>
                <a:sym typeface="Roboto"/>
              </a:rPr>
              <a:t>Analyse des deutschen Strommarkts </a:t>
            </a:r>
            <a:endParaRPr b="1" sz="2800">
              <a:solidFill>
                <a:srgbClr val="FFFFFF"/>
              </a:solidFill>
              <a:latin typeface="Roboto"/>
              <a:ea typeface="Roboto"/>
              <a:cs typeface="Roboto"/>
              <a:sym typeface="Roboto"/>
            </a:endParaRPr>
          </a:p>
          <a:p>
            <a:pPr indent="0" lvl="0" marL="0" rtl="0" algn="ctr">
              <a:spcBef>
                <a:spcPts val="0"/>
              </a:spcBef>
              <a:spcAft>
                <a:spcPts val="0"/>
              </a:spcAft>
              <a:buNone/>
            </a:pPr>
            <a:r>
              <a:rPr b="1" lang="en" sz="2800">
                <a:solidFill>
                  <a:srgbClr val="FFFFFF"/>
                </a:solidFill>
                <a:latin typeface="Roboto"/>
                <a:ea typeface="Roboto"/>
                <a:cs typeface="Roboto"/>
                <a:sym typeface="Roboto"/>
              </a:rPr>
              <a:t>nach dem Atomausstieg 2023: </a:t>
            </a:r>
            <a:endParaRPr b="1" sz="2800">
              <a:solidFill>
                <a:srgbClr val="FFFFFF"/>
              </a:solidFill>
              <a:latin typeface="Roboto"/>
              <a:ea typeface="Roboto"/>
              <a:cs typeface="Roboto"/>
              <a:sym typeface="Roboto"/>
            </a:endParaRPr>
          </a:p>
          <a:p>
            <a:pPr indent="0" lvl="0" marL="0" rtl="0" algn="ctr">
              <a:spcBef>
                <a:spcPts val="0"/>
              </a:spcBef>
              <a:spcAft>
                <a:spcPts val="0"/>
              </a:spcAft>
              <a:buNone/>
            </a:pPr>
            <a:r>
              <a:rPr b="1" lang="en" sz="2800">
                <a:solidFill>
                  <a:srgbClr val="FFFFFF"/>
                </a:solidFill>
                <a:latin typeface="Roboto"/>
                <a:ea typeface="Roboto"/>
                <a:cs typeface="Roboto"/>
                <a:sym typeface="Roboto"/>
              </a:rPr>
              <a:t>Strommix, </a:t>
            </a:r>
            <a:r>
              <a:rPr b="1" lang="en" sz="2800">
                <a:solidFill>
                  <a:srgbClr val="FFFFFF"/>
                </a:solidFill>
                <a:latin typeface="Roboto"/>
                <a:ea typeface="Roboto"/>
                <a:cs typeface="Roboto"/>
                <a:sym typeface="Roboto"/>
              </a:rPr>
              <a:t>Energieeinsatz</a:t>
            </a:r>
            <a:r>
              <a:rPr b="1" lang="en" sz="2800">
                <a:solidFill>
                  <a:srgbClr val="FFFFFF"/>
                </a:solidFill>
                <a:latin typeface="Roboto"/>
                <a:ea typeface="Roboto"/>
                <a:cs typeface="Roboto"/>
                <a:sym typeface="Roboto"/>
              </a:rPr>
              <a:t> und Preisentwicklung</a:t>
            </a:r>
            <a:endParaRPr b="1" sz="2800">
              <a:solidFill>
                <a:srgbClr val="FFFFFF"/>
              </a:solidFill>
              <a:latin typeface="Roboto"/>
              <a:ea typeface="Roboto"/>
              <a:cs typeface="Roboto"/>
              <a:sym typeface="Roboto"/>
            </a:endParaRPr>
          </a:p>
          <a:p>
            <a:pPr indent="0" lvl="0" marL="0" rtl="0" algn="ctr">
              <a:spcBef>
                <a:spcPts val="0"/>
              </a:spcBef>
              <a:spcAft>
                <a:spcPts val="0"/>
              </a:spcAft>
              <a:buNone/>
            </a:pPr>
            <a:r>
              <a:rPr b="1" lang="en" sz="2800">
                <a:solidFill>
                  <a:srgbClr val="FFFFFF"/>
                </a:solidFill>
                <a:latin typeface="Roboto"/>
                <a:ea typeface="Roboto"/>
                <a:cs typeface="Roboto"/>
                <a:sym typeface="Roboto"/>
              </a:rPr>
              <a:t>2019–2025</a:t>
            </a:r>
            <a:endParaRPr b="1" sz="2800">
              <a:solidFill>
                <a:srgbClr val="FFFFFF"/>
              </a:solidFill>
              <a:latin typeface="Roboto"/>
              <a:ea typeface="Roboto"/>
              <a:cs typeface="Roboto"/>
              <a:sym typeface="Roboto"/>
            </a:endParaRPr>
          </a:p>
          <a:p>
            <a:pPr indent="0" lvl="0" marL="0" rtl="0" algn="ctr">
              <a:spcBef>
                <a:spcPts val="0"/>
              </a:spcBef>
              <a:spcAft>
                <a:spcPts val="0"/>
              </a:spcAft>
              <a:buNone/>
            </a:pPr>
            <a:r>
              <a:t/>
            </a:r>
            <a:endParaRPr b="1" sz="2800">
              <a:solidFill>
                <a:srgbClr val="FFFFFF"/>
              </a:solidFill>
              <a:latin typeface="Roboto"/>
              <a:ea typeface="Roboto"/>
              <a:cs typeface="Roboto"/>
              <a:sym typeface="Roboto"/>
            </a:endParaRPr>
          </a:p>
        </p:txBody>
      </p:sp>
      <p:sp>
        <p:nvSpPr>
          <p:cNvPr id="71" name="Google Shape;71;p13"/>
          <p:cNvSpPr txBox="1"/>
          <p:nvPr/>
        </p:nvSpPr>
        <p:spPr>
          <a:xfrm>
            <a:off x="390525" y="3707905"/>
            <a:ext cx="8222100" cy="14160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t/>
            </a:r>
            <a:endParaRPr b="1" sz="1700">
              <a:solidFill>
                <a:srgbClr val="FFFFFF"/>
              </a:solidFill>
              <a:latin typeface="Roboto"/>
              <a:ea typeface="Roboto"/>
              <a:cs typeface="Roboto"/>
              <a:sym typeface="Roboto"/>
            </a:endParaRPr>
          </a:p>
          <a:p>
            <a:pPr indent="0" lvl="0" marL="0" rtl="0" algn="r">
              <a:spcBef>
                <a:spcPts val="0"/>
              </a:spcBef>
              <a:spcAft>
                <a:spcPts val="0"/>
              </a:spcAft>
              <a:buNone/>
            </a:pPr>
            <a:r>
              <a:t/>
            </a:r>
            <a:endParaRPr sz="1700">
              <a:solidFill>
                <a:srgbClr val="FFFFFF"/>
              </a:solidFill>
              <a:latin typeface="Roboto"/>
              <a:ea typeface="Roboto"/>
              <a:cs typeface="Roboto"/>
              <a:sym typeface="Roboto"/>
            </a:endParaRPr>
          </a:p>
          <a:p>
            <a:pPr indent="0" lvl="0" marL="0" rtl="0" algn="r">
              <a:spcBef>
                <a:spcPts val="0"/>
              </a:spcBef>
              <a:spcAft>
                <a:spcPts val="0"/>
              </a:spcAft>
              <a:buNone/>
            </a:pPr>
            <a:r>
              <a:rPr lang="en" sz="1100">
                <a:solidFill>
                  <a:srgbClr val="FFFFFF"/>
                </a:solidFill>
                <a:latin typeface="Roboto"/>
                <a:ea typeface="Roboto"/>
                <a:cs typeface="Roboto"/>
                <a:sym typeface="Roboto"/>
              </a:rPr>
              <a:t>Abschlussprojekt im Rahmen der Weiterbildung</a:t>
            </a:r>
            <a:endParaRPr sz="1100">
              <a:solidFill>
                <a:srgbClr val="FFFFFF"/>
              </a:solidFill>
              <a:latin typeface="Roboto"/>
              <a:ea typeface="Roboto"/>
              <a:cs typeface="Roboto"/>
              <a:sym typeface="Roboto"/>
            </a:endParaRPr>
          </a:p>
          <a:p>
            <a:pPr indent="0" lvl="0" marL="0" rtl="0" algn="r">
              <a:spcBef>
                <a:spcPts val="0"/>
              </a:spcBef>
              <a:spcAft>
                <a:spcPts val="0"/>
              </a:spcAft>
              <a:buNone/>
            </a:pPr>
            <a:r>
              <a:rPr lang="en" sz="1100">
                <a:solidFill>
                  <a:srgbClr val="FFFFFF"/>
                </a:solidFill>
                <a:latin typeface="Roboto"/>
                <a:ea typeface="Roboto"/>
                <a:cs typeface="Roboto"/>
                <a:sym typeface="Roboto"/>
              </a:rPr>
              <a:t>Data Analytics — Data Science. Institute bei Fabian Rappert</a:t>
            </a:r>
            <a:endParaRPr sz="1100">
              <a:solidFill>
                <a:srgbClr val="FFFFFF"/>
              </a:solidFill>
              <a:latin typeface="Roboto"/>
              <a:ea typeface="Roboto"/>
              <a:cs typeface="Roboto"/>
              <a:sym typeface="Roboto"/>
            </a:endParaRPr>
          </a:p>
          <a:p>
            <a:pPr indent="0" lvl="0" marL="0" rtl="0" algn="l">
              <a:spcBef>
                <a:spcPts val="0"/>
              </a:spcBef>
              <a:spcAft>
                <a:spcPts val="0"/>
              </a:spcAft>
              <a:buNone/>
            </a:pPr>
            <a:r>
              <a:t/>
            </a:r>
            <a:endParaRPr sz="2400">
              <a:solidFill>
                <a:srgbClr val="FFFFFF"/>
              </a:solidFill>
              <a:latin typeface="Roboto"/>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Projektziele</a:t>
            </a:r>
            <a:endParaRPr/>
          </a:p>
        </p:txBody>
      </p:sp>
      <p:sp>
        <p:nvSpPr>
          <p:cNvPr id="77" name="Google Shape;77;p14"/>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Ziel des Projekts</a:t>
            </a:r>
            <a:endParaRPr/>
          </a:p>
          <a:p>
            <a:pPr indent="0" lvl="0" marL="0" rtl="0" algn="l">
              <a:spcBef>
                <a:spcPts val="1600"/>
              </a:spcBef>
              <a:spcAft>
                <a:spcPts val="1600"/>
              </a:spcAft>
              <a:buNone/>
            </a:pPr>
            <a:r>
              <a:rPr lang="en"/>
              <a:t>Untersuchen, wie sich die deutsche Strommarkt vor und nach dem Atomausstieg verändert hat und ob der Atomausstieg der zentrale Treiber dieser Veränderungen war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Forschungsfragen</a:t>
            </a:r>
            <a:endParaRPr/>
          </a:p>
        </p:txBody>
      </p:sp>
      <p:sp>
        <p:nvSpPr>
          <p:cNvPr id="83" name="Google Shape;83;p15"/>
          <p:cNvSpPr txBox="1"/>
          <p:nvPr>
            <p:ph idx="1" type="body"/>
          </p:nvPr>
        </p:nvSpPr>
        <p:spPr>
          <a:xfrm>
            <a:off x="471900" y="1919075"/>
            <a:ext cx="8222100" cy="3090900"/>
          </a:xfrm>
          <a:prstGeom prst="rect">
            <a:avLst/>
          </a:prstGeom>
        </p:spPr>
        <p:txBody>
          <a:bodyPr anchorCtr="0" anchor="t" bIns="91425" lIns="91425" spcFirstLastPara="1" rIns="91425" wrap="square" tIns="91425">
            <a:normAutofit fontScale="55000"/>
          </a:bodyPr>
          <a:lstStyle/>
          <a:p>
            <a:pPr indent="-333190" lvl="0" marL="457200" rtl="0" algn="l">
              <a:spcBef>
                <a:spcPts val="0"/>
              </a:spcBef>
              <a:spcAft>
                <a:spcPts val="0"/>
              </a:spcAft>
              <a:buSzPct val="100000"/>
              <a:buAutoNum type="arabicPeriod"/>
            </a:pPr>
            <a:r>
              <a:rPr lang="en" sz="2995"/>
              <a:t>Welche Rolle spielte die Kernenergie im deutschen Strommix bis zum Atomausstieg 2023, und wie veränderte sich der Strommix nach ihrem Wegfall?</a:t>
            </a:r>
            <a:endParaRPr sz="2995"/>
          </a:p>
          <a:p>
            <a:pPr indent="-333190" lvl="0" marL="457200" rtl="0" algn="l">
              <a:spcBef>
                <a:spcPts val="0"/>
              </a:spcBef>
              <a:spcAft>
                <a:spcPts val="0"/>
              </a:spcAft>
              <a:buSzPct val="100000"/>
              <a:buAutoNum type="arabicPeriod"/>
            </a:pPr>
            <a:r>
              <a:rPr lang="en" sz="2995"/>
              <a:t>Wodurch wurde die wegfallende Kernenergie nach dem Atomausstieg 2023 ersetzt? (durch erneuerbare Energien, durch Gasverstromung oder durch Stromimporte).</a:t>
            </a:r>
            <a:endParaRPr sz="2995"/>
          </a:p>
          <a:p>
            <a:pPr indent="-333190" lvl="0" marL="457200" rtl="0" algn="l">
              <a:spcBef>
                <a:spcPts val="0"/>
              </a:spcBef>
              <a:spcAft>
                <a:spcPts val="0"/>
              </a:spcAft>
              <a:buSzPct val="100000"/>
              <a:buAutoNum type="arabicPeriod"/>
            </a:pPr>
            <a:r>
              <a:rPr lang="en" sz="2995"/>
              <a:t>Wie entwickelten sich die Strompreise für Haushalte nach dem Atomausstieg 2023?</a:t>
            </a:r>
            <a:endParaRPr sz="2995"/>
          </a:p>
          <a:p>
            <a:pPr indent="-333190" lvl="0" marL="457200" rtl="0" algn="l">
              <a:spcBef>
                <a:spcPts val="0"/>
              </a:spcBef>
              <a:spcAft>
                <a:spcPts val="0"/>
              </a:spcAft>
              <a:buSzPct val="100000"/>
              <a:buAutoNum type="arabicPeriod"/>
            </a:pPr>
            <a:r>
              <a:rPr lang="en" sz="2995"/>
              <a:t>Welche Faktoren beeinflussten die Haushaltsstrompreise in Deutschland nach dem Atomausstieg 2023 stärker: der Atomausstieg selbst oder andere Faktoren wie Gasverstromung, Stromimporte und Netzentgelte?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Verwendete Datenquellen</a:t>
            </a:r>
            <a:endParaRPr/>
          </a:p>
        </p:txBody>
      </p:sp>
      <p:sp>
        <p:nvSpPr>
          <p:cNvPr id="89" name="Google Shape;89;p16"/>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SMARD</a:t>
            </a:r>
            <a:endParaRPr b="1"/>
          </a:p>
          <a:p>
            <a:pPr indent="0" lvl="0" marL="0" rtl="0" algn="l">
              <a:spcBef>
                <a:spcPts val="1600"/>
              </a:spcBef>
              <a:spcAft>
                <a:spcPts val="0"/>
              </a:spcAft>
              <a:buNone/>
            </a:pPr>
            <a:r>
              <a:rPr lang="en"/>
              <a:t>Offizielle Plattform für Energiedaten in Deutschland</a:t>
            </a:r>
            <a:endParaRPr/>
          </a:p>
          <a:p>
            <a:pPr indent="-317500" lvl="0" marL="457200" rtl="0" algn="l">
              <a:spcBef>
                <a:spcPts val="1600"/>
              </a:spcBef>
              <a:spcAft>
                <a:spcPts val="0"/>
              </a:spcAft>
              <a:buSzPts val="1400"/>
              <a:buChar char="●"/>
            </a:pPr>
            <a:r>
              <a:rPr lang="en"/>
              <a:t>Stromerzeugung</a:t>
            </a:r>
            <a:endParaRPr/>
          </a:p>
          <a:p>
            <a:pPr indent="-317500" lvl="0" marL="457200" rtl="0" algn="l">
              <a:spcBef>
                <a:spcPts val="0"/>
              </a:spcBef>
              <a:spcAft>
                <a:spcPts val="0"/>
              </a:spcAft>
              <a:buSzPts val="1400"/>
              <a:buChar char="●"/>
            </a:pPr>
            <a:r>
              <a:rPr lang="en"/>
              <a:t>Stromimporte und -exporte</a:t>
            </a:r>
            <a:endParaRPr/>
          </a:p>
          <a:p>
            <a:pPr indent="0" lvl="0" marL="0" rtl="0" algn="l">
              <a:spcBef>
                <a:spcPts val="1600"/>
              </a:spcBef>
              <a:spcAft>
                <a:spcPts val="1600"/>
              </a:spcAft>
              <a:buNone/>
            </a:pPr>
            <a:r>
              <a:t/>
            </a:r>
            <a:endParaRPr/>
          </a:p>
        </p:txBody>
      </p:sp>
      <p:sp>
        <p:nvSpPr>
          <p:cNvPr id="90" name="Google Shape;90;p16"/>
          <p:cNvSpPr txBox="1"/>
          <p:nvPr>
            <p:ph idx="2" type="body"/>
          </p:nvPr>
        </p:nvSpPr>
        <p:spPr>
          <a:xfrm>
            <a:off x="4694250" y="1919075"/>
            <a:ext cx="3999900" cy="2675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Destatis / GENESIS</a:t>
            </a:r>
            <a:endParaRPr b="1"/>
          </a:p>
          <a:p>
            <a:pPr indent="0" lvl="0" marL="0" rtl="0" algn="l">
              <a:spcBef>
                <a:spcPts val="1600"/>
              </a:spcBef>
              <a:spcAft>
                <a:spcPts val="0"/>
              </a:spcAft>
              <a:buNone/>
            </a:pPr>
            <a:r>
              <a:rPr lang="en"/>
              <a:t>Offizielle Statistikdatenbank Deutschlands</a:t>
            </a:r>
            <a:endParaRPr/>
          </a:p>
          <a:p>
            <a:pPr indent="-317500" lvl="0" marL="457200" rtl="0" algn="l">
              <a:spcBef>
                <a:spcPts val="1600"/>
              </a:spcBef>
              <a:spcAft>
                <a:spcPts val="0"/>
              </a:spcAft>
              <a:buSzPts val="1400"/>
              <a:buChar char="●"/>
            </a:pPr>
            <a:r>
              <a:rPr lang="en"/>
              <a:t>Haushaltsstrompreise</a:t>
            </a:r>
            <a:endParaRPr/>
          </a:p>
          <a:p>
            <a:pPr indent="-317500" lvl="0" marL="457200" rtl="0" algn="l">
              <a:spcBef>
                <a:spcPts val="0"/>
              </a:spcBef>
              <a:spcAft>
                <a:spcPts val="0"/>
              </a:spcAft>
              <a:buSzPts val="1400"/>
              <a:buChar char="●"/>
            </a:pPr>
            <a:r>
              <a:rPr lang="en"/>
              <a:t>Preisbestandteile</a:t>
            </a:r>
            <a:endParaRPr/>
          </a:p>
          <a:p>
            <a:pPr indent="-317500" lvl="0" marL="457200" rtl="0" algn="l">
              <a:spcBef>
                <a:spcPts val="0"/>
              </a:spcBef>
              <a:spcAft>
                <a:spcPts val="0"/>
              </a:spcAft>
              <a:buSzPts val="1400"/>
              <a:buChar char="●"/>
            </a:pPr>
            <a:r>
              <a:rPr lang="en"/>
              <a:t>Brennstoffpreise</a:t>
            </a:r>
            <a:endParaRPr/>
          </a:p>
          <a:p>
            <a:pPr indent="0" lvl="0" marL="0" rtl="0" algn="l">
              <a:lnSpc>
                <a:spcPct val="100000"/>
              </a:lnSpc>
              <a:spcBef>
                <a:spcPts val="1600"/>
              </a:spcBef>
              <a:spcAft>
                <a:spcPts val="0"/>
              </a:spcAft>
              <a:buNone/>
            </a:pPr>
            <a:r>
              <a:rPr b="1" lang="en"/>
              <a:t>Zeitraum: </a:t>
            </a:r>
            <a:r>
              <a:rPr lang="en"/>
              <a:t>2019–2025</a:t>
            </a:r>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Projektarchitektur</a:t>
            </a:r>
            <a:r>
              <a:rPr lang="en"/>
              <a:t> / Workflow</a:t>
            </a:r>
            <a:endParaRPr/>
          </a:p>
        </p:txBody>
      </p:sp>
      <p:sp>
        <p:nvSpPr>
          <p:cNvPr id="96" name="Google Shape;96;p17"/>
          <p:cNvSpPr txBox="1"/>
          <p:nvPr>
            <p:ph idx="1" type="body"/>
          </p:nvPr>
        </p:nvSpPr>
        <p:spPr>
          <a:xfrm>
            <a:off x="471900" y="1919075"/>
            <a:ext cx="8222100" cy="29892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a:t>Projektpipeline</a:t>
            </a:r>
            <a:endParaRPr b="1"/>
          </a:p>
          <a:p>
            <a:pPr indent="-342900" lvl="0" marL="457200" rtl="0" algn="l">
              <a:spcBef>
                <a:spcPts val="1600"/>
              </a:spcBef>
              <a:spcAft>
                <a:spcPts val="0"/>
              </a:spcAft>
              <a:buSzPts val="1800"/>
              <a:buAutoNum type="arabicPeriod"/>
            </a:pPr>
            <a:r>
              <a:rPr lang="en"/>
              <a:t>Datenrecherche</a:t>
            </a:r>
            <a:endParaRPr/>
          </a:p>
          <a:p>
            <a:pPr indent="-342900" lvl="0" marL="457200" rtl="0" algn="l">
              <a:spcBef>
                <a:spcPts val="0"/>
              </a:spcBef>
              <a:spcAft>
                <a:spcPts val="0"/>
              </a:spcAft>
              <a:buSzPts val="1800"/>
              <a:buAutoNum type="arabicPeriod"/>
            </a:pPr>
            <a:r>
              <a:rPr lang="en"/>
              <a:t>Datenbereinigung in Python</a:t>
            </a:r>
            <a:endParaRPr/>
          </a:p>
          <a:p>
            <a:pPr indent="-342900" lvl="0" marL="457200" rtl="0" algn="l">
              <a:spcBef>
                <a:spcPts val="0"/>
              </a:spcBef>
              <a:spcAft>
                <a:spcPts val="0"/>
              </a:spcAft>
              <a:buSzPts val="1800"/>
              <a:buAutoNum type="arabicPeriod"/>
            </a:pPr>
            <a:r>
              <a:rPr lang="en"/>
              <a:t>SQL-Datenbank &amp; analytische Views &amp; Voranalyse</a:t>
            </a:r>
            <a:endParaRPr/>
          </a:p>
          <a:p>
            <a:pPr indent="-342900" lvl="0" marL="457200" rtl="0" algn="l">
              <a:spcBef>
                <a:spcPts val="0"/>
              </a:spcBef>
              <a:spcAft>
                <a:spcPts val="0"/>
              </a:spcAft>
              <a:buSzPts val="1800"/>
              <a:buAutoNum type="arabicPeriod"/>
            </a:pPr>
            <a:r>
              <a:rPr lang="en"/>
              <a:t>Datenmodell in Power BI, i</a:t>
            </a:r>
            <a:r>
              <a:rPr lang="en"/>
              <a:t>nteraktiv Dashboards &amp; Analyse</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Technologische Kompetenzen</a:t>
            </a:r>
            <a:endParaRPr/>
          </a:p>
        </p:txBody>
      </p:sp>
      <p:sp>
        <p:nvSpPr>
          <p:cNvPr id="102" name="Google Shape;102;p18"/>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Verwendete Technologien</a:t>
            </a:r>
            <a:endParaRPr b="1"/>
          </a:p>
          <a:p>
            <a:pPr indent="-317500" lvl="0" marL="457200" rtl="0" algn="l">
              <a:spcBef>
                <a:spcPts val="1600"/>
              </a:spcBef>
              <a:spcAft>
                <a:spcPts val="0"/>
              </a:spcAft>
              <a:buSzPts val="1400"/>
              <a:buChar char="●"/>
            </a:pPr>
            <a:r>
              <a:rPr lang="en"/>
              <a:t>Python</a:t>
            </a:r>
            <a:endParaRPr/>
          </a:p>
          <a:p>
            <a:pPr indent="-317500" lvl="0" marL="457200" rtl="0" algn="l">
              <a:spcBef>
                <a:spcPts val="0"/>
              </a:spcBef>
              <a:spcAft>
                <a:spcPts val="0"/>
              </a:spcAft>
              <a:buSzPts val="1400"/>
              <a:buChar char="●"/>
            </a:pPr>
            <a:r>
              <a:rPr lang="en"/>
              <a:t>pandas</a:t>
            </a:r>
            <a:endParaRPr/>
          </a:p>
          <a:p>
            <a:pPr indent="-317500" lvl="0" marL="457200" rtl="0" algn="l">
              <a:spcBef>
                <a:spcPts val="0"/>
              </a:spcBef>
              <a:spcAft>
                <a:spcPts val="0"/>
              </a:spcAft>
              <a:buSzPts val="1400"/>
              <a:buChar char="●"/>
            </a:pPr>
            <a:r>
              <a:rPr lang="en"/>
              <a:t>Jupyter Notebook</a:t>
            </a:r>
            <a:endParaRPr/>
          </a:p>
          <a:p>
            <a:pPr indent="-317500" lvl="0" marL="457200" rtl="0" algn="l">
              <a:spcBef>
                <a:spcPts val="0"/>
              </a:spcBef>
              <a:spcAft>
                <a:spcPts val="0"/>
              </a:spcAft>
              <a:buSzPts val="1400"/>
              <a:buChar char="●"/>
            </a:pPr>
            <a:r>
              <a:rPr lang="en"/>
              <a:t>PostgreSQL</a:t>
            </a:r>
            <a:endParaRPr/>
          </a:p>
          <a:p>
            <a:pPr indent="-317500" lvl="0" marL="457200" rtl="0" algn="l">
              <a:spcBef>
                <a:spcPts val="0"/>
              </a:spcBef>
              <a:spcAft>
                <a:spcPts val="0"/>
              </a:spcAft>
              <a:buSzPts val="1400"/>
              <a:buChar char="●"/>
            </a:pPr>
            <a:r>
              <a:rPr lang="en"/>
              <a:t>SQL</a:t>
            </a:r>
            <a:endParaRPr/>
          </a:p>
          <a:p>
            <a:pPr indent="-317500" lvl="0" marL="457200" rtl="0" algn="l">
              <a:spcBef>
                <a:spcPts val="0"/>
              </a:spcBef>
              <a:spcAft>
                <a:spcPts val="0"/>
              </a:spcAft>
              <a:buSzPts val="1400"/>
              <a:buChar char="●"/>
            </a:pPr>
            <a:r>
              <a:rPr lang="en"/>
              <a:t>Power BI</a:t>
            </a:r>
            <a:endParaRPr/>
          </a:p>
          <a:p>
            <a:pPr indent="0" lvl="0" marL="457200" rtl="0" algn="l">
              <a:spcBef>
                <a:spcPts val="1600"/>
              </a:spcBef>
              <a:spcAft>
                <a:spcPts val="0"/>
              </a:spcAft>
              <a:buNone/>
            </a:pPr>
            <a:r>
              <a:t/>
            </a:r>
            <a:endParaRPr b="1"/>
          </a:p>
          <a:p>
            <a:pPr indent="0" lvl="0" marL="0" rtl="0" algn="l">
              <a:spcBef>
                <a:spcPts val="1600"/>
              </a:spcBef>
              <a:spcAft>
                <a:spcPts val="1600"/>
              </a:spcAft>
              <a:buNone/>
            </a:pPr>
            <a:r>
              <a:t/>
            </a:r>
            <a:endParaRPr/>
          </a:p>
        </p:txBody>
      </p:sp>
      <p:sp>
        <p:nvSpPr>
          <p:cNvPr id="103" name="Google Shape;103;p18"/>
          <p:cNvSpPr txBox="1"/>
          <p:nvPr>
            <p:ph idx="2" type="body"/>
          </p:nvPr>
        </p:nvSpPr>
        <p:spPr>
          <a:xfrm>
            <a:off x="4694250" y="1919075"/>
            <a:ext cx="3999900" cy="25242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a:t>Analytische Kompetenzen</a:t>
            </a:r>
            <a:endParaRPr b="1"/>
          </a:p>
          <a:p>
            <a:pPr indent="-317500" lvl="0" marL="457200" rtl="0" algn="l">
              <a:lnSpc>
                <a:spcPct val="100000"/>
              </a:lnSpc>
              <a:spcBef>
                <a:spcPts val="1600"/>
              </a:spcBef>
              <a:spcAft>
                <a:spcPts val="0"/>
              </a:spcAft>
              <a:buSzPts val="1400"/>
              <a:buChar char="●"/>
            </a:pPr>
            <a:r>
              <a:rPr lang="en"/>
              <a:t>ETL</a:t>
            </a:r>
            <a:endParaRPr/>
          </a:p>
          <a:p>
            <a:pPr indent="-317500" lvl="0" marL="457200" rtl="0" algn="l">
              <a:lnSpc>
                <a:spcPct val="100000"/>
              </a:lnSpc>
              <a:spcBef>
                <a:spcPts val="0"/>
              </a:spcBef>
              <a:spcAft>
                <a:spcPts val="0"/>
              </a:spcAft>
              <a:buSzPts val="1400"/>
              <a:buChar char="●"/>
            </a:pPr>
            <a:r>
              <a:rPr lang="en"/>
              <a:t>Datenbereinigung</a:t>
            </a:r>
            <a:endParaRPr/>
          </a:p>
          <a:p>
            <a:pPr indent="-317500" lvl="0" marL="457200" rtl="0" algn="l">
              <a:lnSpc>
                <a:spcPct val="100000"/>
              </a:lnSpc>
              <a:spcBef>
                <a:spcPts val="0"/>
              </a:spcBef>
              <a:spcAft>
                <a:spcPts val="0"/>
              </a:spcAft>
              <a:buSzPts val="1400"/>
              <a:buChar char="●"/>
            </a:pPr>
            <a:r>
              <a:rPr lang="en"/>
              <a:t>Datenmodellierung</a:t>
            </a:r>
            <a:endParaRPr/>
          </a:p>
          <a:p>
            <a:pPr indent="-317500" lvl="0" marL="457200" rtl="0" algn="l">
              <a:lnSpc>
                <a:spcPct val="100000"/>
              </a:lnSpc>
              <a:spcBef>
                <a:spcPts val="0"/>
              </a:spcBef>
              <a:spcAft>
                <a:spcPts val="0"/>
              </a:spcAft>
              <a:buSzPts val="1400"/>
              <a:buChar char="●"/>
            </a:pPr>
            <a:r>
              <a:rPr lang="en"/>
              <a:t>KPI-Entwicklung</a:t>
            </a:r>
            <a:endParaRPr/>
          </a:p>
          <a:p>
            <a:pPr indent="-317500" lvl="0" marL="457200" rtl="0" algn="l">
              <a:lnSpc>
                <a:spcPct val="100000"/>
              </a:lnSpc>
              <a:spcBef>
                <a:spcPts val="0"/>
              </a:spcBef>
              <a:spcAft>
                <a:spcPts val="0"/>
              </a:spcAft>
              <a:buSzPts val="1400"/>
              <a:buChar char="●"/>
            </a:pPr>
            <a:r>
              <a:rPr lang="en"/>
              <a:t>Dashboard-Design</a:t>
            </a:r>
            <a:endParaRPr/>
          </a:p>
          <a:p>
            <a:pPr indent="0" lvl="0" marL="0" rtl="0" algn="l">
              <a:lnSpc>
                <a:spcPct val="100000"/>
              </a:lnSpc>
              <a:spcBef>
                <a:spcPts val="1600"/>
              </a:spcBef>
              <a:spcAft>
                <a:spcPts val="0"/>
              </a:spcAft>
              <a:buNone/>
            </a:pPr>
            <a:r>
              <a:t/>
            </a:r>
            <a:endParaRPr b="1"/>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pic>
        <p:nvPicPr>
          <p:cNvPr id="108" name="Google Shape;108;p19" title="gheorghe-lupan-zJ71muVYx_g-unsplash.jpg"/>
          <p:cNvPicPr preferRelativeResize="0"/>
          <p:nvPr/>
        </p:nvPicPr>
        <p:blipFill>
          <a:blip r:embed="rId3">
            <a:alphaModFix amt="82000"/>
          </a:blip>
          <a:stretch>
            <a:fillRect/>
          </a:stretch>
        </p:blipFill>
        <p:spPr>
          <a:xfrm>
            <a:off x="0" y="0"/>
            <a:ext cx="9144003" cy="5143501"/>
          </a:xfrm>
          <a:prstGeom prst="rect">
            <a:avLst/>
          </a:prstGeom>
          <a:noFill/>
          <a:ln>
            <a:noFill/>
          </a:ln>
        </p:spPr>
      </p:pic>
      <p:sp>
        <p:nvSpPr>
          <p:cNvPr id="109" name="Google Shape;109;p19"/>
          <p:cNvSpPr txBox="1"/>
          <p:nvPr>
            <p:ph type="title"/>
          </p:nvPr>
        </p:nvSpPr>
        <p:spPr>
          <a:xfrm>
            <a:off x="460950" y="1010325"/>
            <a:ext cx="8222100" cy="1561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Python. </a:t>
            </a:r>
            <a:r>
              <a:rPr lang="en"/>
              <a:t>Preprocessing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Datenbereinigung</a:t>
            </a:r>
            <a:endParaRPr/>
          </a:p>
        </p:txBody>
      </p:sp>
      <p:sp>
        <p:nvSpPr>
          <p:cNvPr id="115" name="Google Shape;115;p20"/>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Ziel der Datenaufbereitung</a:t>
            </a:r>
            <a:endParaRPr b="1"/>
          </a:p>
          <a:p>
            <a:pPr indent="-317500" lvl="0" marL="457200" rtl="0" algn="l">
              <a:spcBef>
                <a:spcPts val="1600"/>
              </a:spcBef>
              <a:spcAft>
                <a:spcPts val="0"/>
              </a:spcAft>
              <a:buSzPts val="1400"/>
              <a:buChar char="●"/>
            </a:pPr>
            <a:r>
              <a:rPr lang="en"/>
              <a:t>Standardisierung der Datenstruktur</a:t>
            </a:r>
            <a:endParaRPr/>
          </a:p>
          <a:p>
            <a:pPr indent="-317500" lvl="0" marL="457200" rtl="0" algn="l">
              <a:spcBef>
                <a:spcPts val="0"/>
              </a:spcBef>
              <a:spcAft>
                <a:spcPts val="0"/>
              </a:spcAft>
              <a:buSzPts val="1400"/>
              <a:buChar char="●"/>
            </a:pPr>
            <a:r>
              <a:rPr lang="en"/>
              <a:t>Harmonisierung von Werten</a:t>
            </a:r>
            <a:endParaRPr/>
          </a:p>
          <a:p>
            <a:pPr indent="-317500" lvl="0" marL="457200" rtl="0" algn="l">
              <a:spcBef>
                <a:spcPts val="0"/>
              </a:spcBef>
              <a:spcAft>
                <a:spcPts val="0"/>
              </a:spcAft>
              <a:buSzPts val="1400"/>
              <a:buChar char="●"/>
            </a:pPr>
            <a:r>
              <a:rPr lang="en"/>
              <a:t>Bereinigung von Zahlenformaten</a:t>
            </a:r>
            <a:endParaRPr/>
          </a:p>
          <a:p>
            <a:pPr indent="-317500" lvl="0" marL="457200" rtl="0" algn="l">
              <a:spcBef>
                <a:spcPts val="0"/>
              </a:spcBef>
              <a:spcAft>
                <a:spcPts val="0"/>
              </a:spcAft>
              <a:buSzPts val="1400"/>
              <a:buChar char="●"/>
            </a:pPr>
            <a:r>
              <a:rPr lang="en"/>
              <a:t>Datumsformatierung</a:t>
            </a:r>
            <a:endParaRPr/>
          </a:p>
          <a:p>
            <a:pPr indent="-317500" lvl="0" marL="457200" rtl="0" algn="l">
              <a:spcBef>
                <a:spcPts val="0"/>
              </a:spcBef>
              <a:spcAft>
                <a:spcPts val="0"/>
              </a:spcAft>
              <a:buSzPts val="1400"/>
              <a:buChar char="●"/>
            </a:pPr>
            <a:r>
              <a:rPr lang="en"/>
              <a:t>Umbenennung von Spalten</a:t>
            </a:r>
            <a:endParaRPr/>
          </a:p>
          <a:p>
            <a:pPr indent="-317500" lvl="0" marL="457200" rtl="0" algn="l">
              <a:spcBef>
                <a:spcPts val="0"/>
              </a:spcBef>
              <a:spcAft>
                <a:spcPts val="0"/>
              </a:spcAft>
              <a:buSzPts val="1400"/>
              <a:buChar char="●"/>
            </a:pPr>
            <a:r>
              <a:rPr lang="en"/>
              <a:t>Vorbereitung für SQL</a:t>
            </a:r>
            <a:endParaRPr/>
          </a:p>
          <a:p>
            <a:pPr indent="0" lvl="0" marL="457200" rtl="0" algn="l">
              <a:spcBef>
                <a:spcPts val="1600"/>
              </a:spcBef>
              <a:spcAft>
                <a:spcPts val="0"/>
              </a:spcAft>
              <a:buNone/>
            </a:pPr>
            <a:r>
              <a:t/>
            </a:r>
            <a:endParaRPr b="1"/>
          </a:p>
          <a:p>
            <a:pPr indent="0" lvl="0" marL="0" rtl="0" algn="l">
              <a:spcBef>
                <a:spcPts val="1600"/>
              </a:spcBef>
              <a:spcAft>
                <a:spcPts val="1600"/>
              </a:spcAft>
              <a:buNone/>
            </a:pPr>
            <a:r>
              <a:t/>
            </a:r>
            <a:endParaRPr/>
          </a:p>
        </p:txBody>
      </p:sp>
      <p:sp>
        <p:nvSpPr>
          <p:cNvPr id="116" name="Google Shape;116;p20"/>
          <p:cNvSpPr txBox="1"/>
          <p:nvPr>
            <p:ph idx="2" type="body"/>
          </p:nvPr>
        </p:nvSpPr>
        <p:spPr>
          <a:xfrm>
            <a:off x="4694250" y="1919075"/>
            <a:ext cx="3999900" cy="16623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a:t>Ergebnis</a:t>
            </a:r>
            <a:endParaRPr b="1"/>
          </a:p>
          <a:p>
            <a:pPr indent="-317500" lvl="0" marL="457200" rtl="0" algn="l">
              <a:lnSpc>
                <a:spcPct val="100000"/>
              </a:lnSpc>
              <a:spcBef>
                <a:spcPts val="1600"/>
              </a:spcBef>
              <a:spcAft>
                <a:spcPts val="0"/>
              </a:spcAft>
              <a:buSzPts val="1400"/>
              <a:buChar char="●"/>
            </a:pPr>
            <a:r>
              <a:rPr lang="en"/>
              <a:t>4 Rohdateien → 4 finale .csv-Dateien</a:t>
            </a:r>
            <a:endParaRPr/>
          </a:p>
          <a:p>
            <a:pPr indent="0" lvl="0" marL="0" rtl="0" algn="l">
              <a:lnSpc>
                <a:spcPct val="100000"/>
              </a:lnSpc>
              <a:spcBef>
                <a:spcPts val="1600"/>
              </a:spcBef>
              <a:spcAft>
                <a:spcPts val="0"/>
              </a:spcAft>
              <a:buNone/>
            </a:pPr>
            <a:r>
              <a:t/>
            </a:r>
            <a:endParaRPr b="1"/>
          </a:p>
          <a:p>
            <a:pPr indent="0" lvl="0" marL="0" rtl="0" algn="l">
              <a:spcBef>
                <a:spcPts val="1600"/>
              </a:spcBef>
              <a:spcAft>
                <a:spcPts val="1600"/>
              </a:spcAft>
              <a:buNone/>
            </a:pPr>
            <a:r>
              <a:t/>
            </a:r>
            <a:endParaRPr/>
          </a:p>
        </p:txBody>
      </p:sp>
      <p:pic>
        <p:nvPicPr>
          <p:cNvPr id="117" name="Google Shape;117;p20"/>
          <p:cNvPicPr preferRelativeResize="0"/>
          <p:nvPr/>
        </p:nvPicPr>
        <p:blipFill>
          <a:blip r:embed="rId3">
            <a:alphaModFix/>
          </a:blip>
          <a:stretch>
            <a:fillRect/>
          </a:stretch>
        </p:blipFill>
        <p:spPr>
          <a:xfrm>
            <a:off x="4788750" y="2825650"/>
            <a:ext cx="3905251" cy="13977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1"/>
          <p:cNvSpPr txBox="1"/>
          <p:nvPr>
            <p:ph type="title"/>
          </p:nvPr>
        </p:nvSpPr>
        <p:spPr>
          <a:xfrm>
            <a:off x="226075" y="357800"/>
            <a:ext cx="3009300" cy="8313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 sz="2100"/>
              <a:t>Verarbeitung der Stromerzeugungsdaten</a:t>
            </a:r>
            <a:endParaRPr b="1" sz="1500"/>
          </a:p>
        </p:txBody>
      </p:sp>
      <p:sp>
        <p:nvSpPr>
          <p:cNvPr id="123" name="Google Shape;123;p21"/>
          <p:cNvSpPr txBox="1"/>
          <p:nvPr>
            <p:ph idx="1" type="body"/>
          </p:nvPr>
        </p:nvSpPr>
        <p:spPr>
          <a:xfrm>
            <a:off x="226075" y="14233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Inhalt</a:t>
            </a:r>
            <a:endParaRPr b="1"/>
          </a:p>
          <a:p>
            <a:pPr indent="-304800" lvl="0" marL="457200" rtl="0" algn="l">
              <a:spcBef>
                <a:spcPts val="1600"/>
              </a:spcBef>
              <a:spcAft>
                <a:spcPts val="0"/>
              </a:spcAft>
              <a:buSzPts val="1200"/>
              <a:buChar char="●"/>
            </a:pPr>
            <a:r>
              <a:rPr lang="en"/>
              <a:t>Bereinigung der Strommix-Daten</a:t>
            </a:r>
            <a:endParaRPr/>
          </a:p>
          <a:p>
            <a:pPr indent="-304800" lvl="0" marL="457200" rtl="0" algn="l">
              <a:spcBef>
                <a:spcPts val="0"/>
              </a:spcBef>
              <a:spcAft>
                <a:spcPts val="0"/>
              </a:spcAft>
              <a:buSzPts val="1200"/>
              <a:buChar char="●"/>
            </a:pPr>
            <a:r>
              <a:rPr lang="en"/>
              <a:t>Behandlung fehlender Kernenergie nach 2023</a:t>
            </a:r>
            <a:endParaRPr/>
          </a:p>
          <a:p>
            <a:pPr indent="-304800" lvl="0" marL="457200" rtl="0" algn="l">
              <a:spcBef>
                <a:spcPts val="0"/>
              </a:spcBef>
              <a:spcAft>
                <a:spcPts val="0"/>
              </a:spcAft>
              <a:buSzPts val="1200"/>
              <a:buChar char="●"/>
            </a:pPr>
            <a:r>
              <a:rPr lang="en"/>
              <a:t>Aggregation nach Energieträgern</a:t>
            </a:r>
            <a:endParaRPr/>
          </a:p>
          <a:p>
            <a:pPr indent="-304800" lvl="0" marL="457200" rtl="0" algn="l">
              <a:spcBef>
                <a:spcPts val="0"/>
              </a:spcBef>
              <a:spcAft>
                <a:spcPts val="0"/>
              </a:spcAft>
              <a:buSzPts val="1200"/>
              <a:buChar char="●"/>
            </a:pPr>
            <a:r>
              <a:rPr lang="en"/>
              <a:t>Vorbereitung für die spätere Analyse in SQL</a:t>
            </a:r>
            <a:endParaRPr/>
          </a:p>
          <a:p>
            <a:pPr indent="0" lvl="0" marL="0" rtl="0" algn="l">
              <a:spcBef>
                <a:spcPts val="1600"/>
              </a:spcBef>
              <a:spcAft>
                <a:spcPts val="1600"/>
              </a:spcAft>
              <a:buNone/>
            </a:pPr>
            <a:r>
              <a:t/>
            </a:r>
            <a:endParaRPr/>
          </a:p>
        </p:txBody>
      </p:sp>
      <p:pic>
        <p:nvPicPr>
          <p:cNvPr id="124" name="Google Shape;124;p21"/>
          <p:cNvPicPr preferRelativeResize="0"/>
          <p:nvPr/>
        </p:nvPicPr>
        <p:blipFill>
          <a:blip r:embed="rId3">
            <a:alphaModFix/>
          </a:blip>
          <a:stretch>
            <a:fillRect/>
          </a:stretch>
        </p:blipFill>
        <p:spPr>
          <a:xfrm>
            <a:off x="4594050" y="2649550"/>
            <a:ext cx="3313398" cy="2365100"/>
          </a:xfrm>
          <a:prstGeom prst="rect">
            <a:avLst/>
          </a:prstGeom>
          <a:noFill/>
          <a:ln>
            <a:noFill/>
          </a:ln>
        </p:spPr>
      </p:pic>
      <p:pic>
        <p:nvPicPr>
          <p:cNvPr id="125" name="Google Shape;125;p21"/>
          <p:cNvPicPr preferRelativeResize="0"/>
          <p:nvPr/>
        </p:nvPicPr>
        <p:blipFill>
          <a:blip r:embed="rId4">
            <a:alphaModFix/>
          </a:blip>
          <a:stretch>
            <a:fillRect/>
          </a:stretch>
        </p:blipFill>
        <p:spPr>
          <a:xfrm>
            <a:off x="4451353" y="227000"/>
            <a:ext cx="3598806" cy="23447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2"/>
          <p:cNvSpPr txBox="1"/>
          <p:nvPr>
            <p:ph type="title"/>
          </p:nvPr>
        </p:nvSpPr>
        <p:spPr>
          <a:xfrm>
            <a:off x="226075" y="235575"/>
            <a:ext cx="2765700" cy="1075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SzPts val="990"/>
              <a:buNone/>
            </a:pPr>
            <a:r>
              <a:rPr lang="en" sz="2100"/>
              <a:t>Verarbeitung von Stromhandel und Strompreisen</a:t>
            </a:r>
            <a:endParaRPr sz="2100"/>
          </a:p>
        </p:txBody>
      </p:sp>
      <p:sp>
        <p:nvSpPr>
          <p:cNvPr id="131" name="Google Shape;131;p22"/>
          <p:cNvSpPr txBox="1"/>
          <p:nvPr>
            <p:ph idx="1" type="body"/>
          </p:nvPr>
        </p:nvSpPr>
        <p:spPr>
          <a:xfrm>
            <a:off x="204925" y="1269475"/>
            <a:ext cx="2808000" cy="43509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b="1" lang="en" sz="1100"/>
              <a:t>Stromhandel</a:t>
            </a:r>
            <a:endParaRPr b="1" sz="1100"/>
          </a:p>
          <a:p>
            <a:pPr indent="-298450" lvl="0" marL="457200" rtl="0" algn="l">
              <a:lnSpc>
                <a:spcPct val="100000"/>
              </a:lnSpc>
              <a:spcBef>
                <a:spcPts val="1600"/>
              </a:spcBef>
              <a:spcAft>
                <a:spcPts val="0"/>
              </a:spcAft>
              <a:buSzPts val="1100"/>
              <a:buChar char="●"/>
            </a:pPr>
            <a:r>
              <a:rPr lang="en" sz="1100"/>
              <a:t>Bereinigung der Import- und Exportdaten</a:t>
            </a:r>
            <a:endParaRPr sz="1100"/>
          </a:p>
          <a:p>
            <a:pPr indent="-298450" lvl="0" marL="457200" rtl="0" algn="l">
              <a:lnSpc>
                <a:spcPct val="100000"/>
              </a:lnSpc>
              <a:spcBef>
                <a:spcPts val="0"/>
              </a:spcBef>
              <a:spcAft>
                <a:spcPts val="0"/>
              </a:spcAft>
              <a:buSzPts val="1100"/>
              <a:buChar char="●"/>
            </a:pPr>
            <a:r>
              <a:rPr lang="en" sz="1100"/>
              <a:t>Strukturierung nach Ländern und Handelsarten</a:t>
            </a:r>
            <a:endParaRPr sz="1100"/>
          </a:p>
          <a:p>
            <a:pPr indent="0" lvl="0" marL="0" rtl="0" algn="l">
              <a:lnSpc>
                <a:spcPct val="100000"/>
              </a:lnSpc>
              <a:spcBef>
                <a:spcPts val="1600"/>
              </a:spcBef>
              <a:spcAft>
                <a:spcPts val="0"/>
              </a:spcAft>
              <a:buNone/>
            </a:pPr>
            <a:r>
              <a:rPr b="1" lang="en" sz="1100"/>
              <a:t>Strompreise</a:t>
            </a:r>
            <a:endParaRPr b="1" sz="1100"/>
          </a:p>
          <a:p>
            <a:pPr indent="-298450" lvl="0" marL="457200" rtl="0" algn="l">
              <a:lnSpc>
                <a:spcPct val="100000"/>
              </a:lnSpc>
              <a:spcBef>
                <a:spcPts val="1600"/>
              </a:spcBef>
              <a:spcAft>
                <a:spcPts val="0"/>
              </a:spcAft>
              <a:buSzPts val="1100"/>
              <a:buChar char="●"/>
            </a:pPr>
            <a:r>
              <a:rPr lang="en" sz="1100"/>
              <a:t>Zerlegung der Preisbestandteile</a:t>
            </a:r>
            <a:endParaRPr sz="1100"/>
          </a:p>
          <a:p>
            <a:pPr indent="-298450" lvl="0" marL="457200" rtl="0" algn="l">
              <a:lnSpc>
                <a:spcPct val="100000"/>
              </a:lnSpc>
              <a:spcBef>
                <a:spcPts val="0"/>
              </a:spcBef>
              <a:spcAft>
                <a:spcPts val="0"/>
              </a:spcAft>
              <a:buSzPts val="1100"/>
              <a:buChar char="●"/>
            </a:pPr>
            <a:r>
              <a:rPr lang="en" sz="1100"/>
              <a:t>Strukturierung nach Jahren, Halbjahren und Verbrauchskategorien</a:t>
            </a:r>
            <a:endParaRPr sz="1100"/>
          </a:p>
          <a:p>
            <a:pPr indent="-298450" lvl="0" marL="457200" rtl="0" algn="l">
              <a:lnSpc>
                <a:spcPct val="100000"/>
              </a:lnSpc>
              <a:spcBef>
                <a:spcPts val="0"/>
              </a:spcBef>
              <a:spcAft>
                <a:spcPts val="0"/>
              </a:spcAft>
              <a:buSzPts val="1100"/>
              <a:buChar char="●"/>
            </a:pPr>
            <a:r>
              <a:rPr lang="en" sz="1100"/>
              <a:t>Erkenntnis</a:t>
            </a:r>
            <a:endParaRPr sz="1100"/>
          </a:p>
          <a:p>
            <a:pPr indent="-298450" lvl="0" marL="457200" rtl="0" algn="l">
              <a:lnSpc>
                <a:spcPct val="100000"/>
              </a:lnSpc>
              <a:spcBef>
                <a:spcPts val="0"/>
              </a:spcBef>
              <a:spcAft>
                <a:spcPts val="0"/>
              </a:spcAft>
              <a:buSzPts val="1100"/>
              <a:buChar char="●"/>
            </a:pPr>
            <a:r>
              <a:rPr lang="en" sz="1100"/>
              <a:t>Die Rohdaten wurden in analytisch nutzbare Datensätze überführt</a:t>
            </a:r>
            <a:endParaRPr sz="1100"/>
          </a:p>
          <a:p>
            <a:pPr indent="0" lvl="0" marL="0" rtl="0" algn="l">
              <a:lnSpc>
                <a:spcPct val="100000"/>
              </a:lnSpc>
              <a:spcBef>
                <a:spcPts val="1600"/>
              </a:spcBef>
              <a:spcAft>
                <a:spcPts val="0"/>
              </a:spcAft>
              <a:buNone/>
            </a:pPr>
            <a:r>
              <a:rPr b="1" lang="en" sz="1100"/>
              <a:t>Erkenntnis</a:t>
            </a:r>
            <a:endParaRPr b="1" sz="1100"/>
          </a:p>
          <a:p>
            <a:pPr indent="-298450" lvl="0" marL="457200" rtl="0" algn="l">
              <a:lnSpc>
                <a:spcPct val="100000"/>
              </a:lnSpc>
              <a:spcBef>
                <a:spcPts val="1600"/>
              </a:spcBef>
              <a:spcAft>
                <a:spcPts val="0"/>
              </a:spcAft>
              <a:buSzPts val="1100"/>
              <a:buChar char="●"/>
            </a:pPr>
            <a:r>
              <a:rPr lang="en" sz="1100"/>
              <a:t>Aus statischen Tabellen wurden analytisch nutzbare Datensätze</a:t>
            </a:r>
            <a:endParaRPr sz="1100"/>
          </a:p>
        </p:txBody>
      </p:sp>
      <p:pic>
        <p:nvPicPr>
          <p:cNvPr id="132" name="Google Shape;132;p22"/>
          <p:cNvPicPr preferRelativeResize="0"/>
          <p:nvPr/>
        </p:nvPicPr>
        <p:blipFill>
          <a:blip r:embed="rId3">
            <a:alphaModFix/>
          </a:blip>
          <a:stretch>
            <a:fillRect/>
          </a:stretch>
        </p:blipFill>
        <p:spPr>
          <a:xfrm>
            <a:off x="3525850" y="2679750"/>
            <a:ext cx="5496875" cy="2192325"/>
          </a:xfrm>
          <a:prstGeom prst="rect">
            <a:avLst/>
          </a:prstGeom>
          <a:noFill/>
          <a:ln>
            <a:noFill/>
          </a:ln>
        </p:spPr>
      </p:pic>
      <p:pic>
        <p:nvPicPr>
          <p:cNvPr id="133" name="Google Shape;133;p22"/>
          <p:cNvPicPr preferRelativeResize="0"/>
          <p:nvPr/>
        </p:nvPicPr>
        <p:blipFill>
          <a:blip r:embed="rId4">
            <a:alphaModFix/>
          </a:blip>
          <a:stretch>
            <a:fillRect/>
          </a:stretch>
        </p:blipFill>
        <p:spPr>
          <a:xfrm>
            <a:off x="3525850" y="165525"/>
            <a:ext cx="2909475" cy="1103950"/>
          </a:xfrm>
          <a:prstGeom prst="rect">
            <a:avLst/>
          </a:prstGeom>
          <a:noFill/>
          <a:ln>
            <a:noFill/>
          </a:ln>
        </p:spPr>
      </p:pic>
      <p:pic>
        <p:nvPicPr>
          <p:cNvPr id="134" name="Google Shape;134;p22"/>
          <p:cNvPicPr preferRelativeResize="0"/>
          <p:nvPr/>
        </p:nvPicPr>
        <p:blipFill>
          <a:blip r:embed="rId5">
            <a:alphaModFix/>
          </a:blip>
          <a:stretch>
            <a:fillRect/>
          </a:stretch>
        </p:blipFill>
        <p:spPr>
          <a:xfrm>
            <a:off x="3525850" y="1412300"/>
            <a:ext cx="2909475" cy="959225"/>
          </a:xfrm>
          <a:prstGeom prst="rect">
            <a:avLst/>
          </a:prstGeom>
          <a:noFill/>
          <a:ln>
            <a:noFill/>
          </a:ln>
        </p:spPr>
      </p:pic>
      <p:pic>
        <p:nvPicPr>
          <p:cNvPr id="135" name="Google Shape;135;p22"/>
          <p:cNvPicPr preferRelativeResize="0"/>
          <p:nvPr/>
        </p:nvPicPr>
        <p:blipFill>
          <a:blip r:embed="rId6">
            <a:alphaModFix/>
          </a:blip>
          <a:stretch>
            <a:fillRect/>
          </a:stretch>
        </p:blipFill>
        <p:spPr>
          <a:xfrm>
            <a:off x="6618850" y="165525"/>
            <a:ext cx="2403875" cy="2206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9" name="Shape 139"/>
        <p:cNvGrpSpPr/>
        <p:nvPr/>
      </p:nvGrpSpPr>
      <p:grpSpPr>
        <a:xfrm>
          <a:off x="0" y="0"/>
          <a:ext cx="0" cy="0"/>
          <a:chOff x="0" y="0"/>
          <a:chExt cx="0" cy="0"/>
        </a:xfrm>
      </p:grpSpPr>
      <p:pic>
        <p:nvPicPr>
          <p:cNvPr id="140" name="Google Shape;140;p23" title="gheorghe-lupan-zJ71muVYx_g-unsplash.jpg"/>
          <p:cNvPicPr preferRelativeResize="0"/>
          <p:nvPr/>
        </p:nvPicPr>
        <p:blipFill>
          <a:blip r:embed="rId3">
            <a:alphaModFix amt="82000"/>
          </a:blip>
          <a:stretch>
            <a:fillRect/>
          </a:stretch>
        </p:blipFill>
        <p:spPr>
          <a:xfrm>
            <a:off x="0" y="0"/>
            <a:ext cx="9144003" cy="5143501"/>
          </a:xfrm>
          <a:prstGeom prst="rect">
            <a:avLst/>
          </a:prstGeom>
          <a:noFill/>
          <a:ln>
            <a:noFill/>
          </a:ln>
        </p:spPr>
      </p:pic>
      <p:sp>
        <p:nvSpPr>
          <p:cNvPr id="141" name="Google Shape;141;p23"/>
          <p:cNvSpPr txBox="1"/>
          <p:nvPr>
            <p:ph type="title"/>
          </p:nvPr>
        </p:nvSpPr>
        <p:spPr>
          <a:xfrm>
            <a:off x="460950" y="847825"/>
            <a:ext cx="8222100" cy="1604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SQL. Voranalyse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Datenbank, analytische Views &amp; Voranalyse</a:t>
            </a:r>
            <a:r>
              <a:rPr lang="en"/>
              <a:t> </a:t>
            </a:r>
            <a:endParaRPr/>
          </a:p>
        </p:txBody>
      </p:sp>
      <p:sp>
        <p:nvSpPr>
          <p:cNvPr id="147" name="Google Shape;147;p24"/>
          <p:cNvSpPr txBox="1"/>
          <p:nvPr>
            <p:ph idx="1" type="body"/>
          </p:nvPr>
        </p:nvSpPr>
        <p:spPr>
          <a:xfrm>
            <a:off x="471900" y="1919075"/>
            <a:ext cx="8222100" cy="34068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200"/>
              <a:t>Ziel der SQL-Phase:</a:t>
            </a:r>
            <a:endParaRPr b="1" sz="1200"/>
          </a:p>
          <a:p>
            <a:pPr indent="0" lvl="0" marL="0" rtl="0" algn="l">
              <a:spcBef>
                <a:spcPts val="1600"/>
              </a:spcBef>
              <a:spcAft>
                <a:spcPts val="0"/>
              </a:spcAft>
              <a:buNone/>
            </a:pPr>
            <a:r>
              <a:rPr lang="en" sz="1200"/>
              <a:t>Transformation der in Python bereinigten Daten in strukturierte SQL-Views als Schnittstellen für die Dashboards. Erstellung analytischer Views zur Datenvoranalyse sowie als Grundlage für die Visualisierung und Weiterverarbeitung in Microsoft Power BI. </a:t>
            </a:r>
            <a:endParaRPr sz="1200"/>
          </a:p>
          <a:p>
            <a:pPr indent="0" lvl="0" marL="0" rtl="0" algn="l">
              <a:spcBef>
                <a:spcPts val="1600"/>
              </a:spcBef>
              <a:spcAft>
                <a:spcPts val="0"/>
              </a:spcAft>
              <a:buNone/>
            </a:pPr>
            <a:r>
              <a:rPr b="1" lang="en" sz="1200"/>
              <a:t>Verwendete Tabellen</a:t>
            </a:r>
            <a:endParaRPr b="1" sz="1200"/>
          </a:p>
          <a:p>
            <a:pPr indent="-304800" lvl="0" marL="457200" rtl="0" algn="l">
              <a:spcBef>
                <a:spcPts val="1600"/>
              </a:spcBef>
              <a:spcAft>
                <a:spcPts val="0"/>
              </a:spcAft>
              <a:buSzPts val="1200"/>
              <a:buChar char="●"/>
            </a:pPr>
            <a:r>
              <a:rPr b="1" lang="en" sz="1200"/>
              <a:t>erzeugung</a:t>
            </a:r>
            <a:r>
              <a:rPr lang="en" sz="1200"/>
              <a:t>: Bereinigte Faktendaten zur deutschen Stromerzeugung nach Kraftwerksart.</a:t>
            </a:r>
            <a:endParaRPr sz="1200"/>
          </a:p>
          <a:p>
            <a:pPr indent="-304800" lvl="0" marL="457200" rtl="0" algn="l">
              <a:spcBef>
                <a:spcPts val="0"/>
              </a:spcBef>
              <a:spcAft>
                <a:spcPts val="0"/>
              </a:spcAft>
              <a:buSzPts val="1200"/>
              <a:buChar char="●"/>
            </a:pPr>
            <a:r>
              <a:rPr b="1" lang="en" sz="1200"/>
              <a:t>aussenhandel</a:t>
            </a:r>
            <a:r>
              <a:rPr lang="en" sz="1200"/>
              <a:t>: Bereinigte und strukturierte Daten zu grenzüberschreitenden Stromimporten und -exporten.</a:t>
            </a:r>
            <a:endParaRPr sz="1200"/>
          </a:p>
          <a:p>
            <a:pPr indent="-304800" lvl="0" marL="457200" rtl="0" algn="l">
              <a:spcBef>
                <a:spcPts val="0"/>
              </a:spcBef>
              <a:spcAft>
                <a:spcPts val="0"/>
              </a:spcAft>
              <a:buSzPts val="1200"/>
              <a:buChar char="●"/>
            </a:pPr>
            <a:r>
              <a:rPr b="1" lang="en" sz="1200"/>
              <a:t>strompreise</a:t>
            </a:r>
            <a:r>
              <a:rPr lang="en" sz="1200"/>
              <a:t>: Bereinigte und standardisierte Daten zu den Haushaltsstrompreisen im Halbjahresvergleich.</a:t>
            </a:r>
            <a:endParaRPr sz="1200"/>
          </a:p>
          <a:p>
            <a:pPr indent="-304800" lvl="0" marL="457200" rtl="0" algn="l">
              <a:spcBef>
                <a:spcPts val="0"/>
              </a:spcBef>
              <a:spcAft>
                <a:spcPts val="0"/>
              </a:spcAft>
              <a:buSzPts val="1200"/>
              <a:buChar char="●"/>
            </a:pPr>
            <a:r>
              <a:rPr b="1" lang="en" sz="1200"/>
              <a:t>strompreisbestandteile</a:t>
            </a:r>
            <a:r>
              <a:rPr lang="en" sz="1200"/>
              <a:t>: Bereinigte Daten zu den funktionalen Preisbestandteilen (Energie, Netz, Abgaben).</a:t>
            </a:r>
            <a:endParaRPr sz="1200"/>
          </a:p>
          <a:p>
            <a:pPr indent="-304800" lvl="0" marL="457200" rtl="0" algn="l">
              <a:spcBef>
                <a:spcPts val="0"/>
              </a:spcBef>
              <a:spcAft>
                <a:spcPts val="0"/>
              </a:spcAft>
              <a:buSzPts val="1200"/>
              <a:buChar char="●"/>
            </a:pPr>
            <a:r>
              <a:rPr b="1" lang="en" sz="1200"/>
              <a:t>brennstoffpreise</a:t>
            </a:r>
            <a:r>
              <a:rPr lang="en" sz="1200"/>
              <a:t>: Bereinigte Indexdaten zu den fossilen Weltmarkt-Brennstoffpreisen (Erdgas, Kohle).</a:t>
            </a:r>
            <a:endParaRPr sz="1200"/>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txBox="1"/>
          <p:nvPr>
            <p:ph type="title"/>
          </p:nvPr>
        </p:nvSpPr>
        <p:spPr>
          <a:xfrm>
            <a:off x="226075" y="149200"/>
            <a:ext cx="2808000" cy="57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Beispiel SQL-View</a:t>
            </a:r>
            <a:endParaRPr sz="2000"/>
          </a:p>
        </p:txBody>
      </p:sp>
      <p:sp>
        <p:nvSpPr>
          <p:cNvPr id="153" name="Google Shape;153;p25"/>
          <p:cNvSpPr txBox="1"/>
          <p:nvPr>
            <p:ph idx="1" type="body"/>
          </p:nvPr>
        </p:nvSpPr>
        <p:spPr>
          <a:xfrm>
            <a:off x="226075" y="725800"/>
            <a:ext cx="2808000" cy="4104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u="sng"/>
              <a:t>Beispiel 1: v01_strommix_jahr</a:t>
            </a:r>
            <a:endParaRPr b="1" u="sng"/>
          </a:p>
          <a:p>
            <a:pPr indent="0" lvl="0" marL="0" rtl="0" algn="l">
              <a:lnSpc>
                <a:spcPct val="100000"/>
              </a:lnSpc>
              <a:spcBef>
                <a:spcPts val="1600"/>
              </a:spcBef>
              <a:spcAft>
                <a:spcPts val="0"/>
              </a:spcAft>
              <a:buNone/>
            </a:pPr>
            <a:r>
              <a:rPr b="1" lang="en"/>
              <a:t>Funktion der View:</a:t>
            </a:r>
            <a:endParaRPr b="1"/>
          </a:p>
          <a:p>
            <a:pPr indent="-304800" lvl="0" marL="457200" rtl="0" algn="l">
              <a:lnSpc>
                <a:spcPct val="100000"/>
              </a:lnSpc>
              <a:spcBef>
                <a:spcPts val="1600"/>
              </a:spcBef>
              <a:spcAft>
                <a:spcPts val="0"/>
              </a:spcAft>
              <a:buSzPts val="1200"/>
              <a:buChar char="●"/>
            </a:pPr>
            <a:r>
              <a:rPr lang="en"/>
              <a:t>Aggregation der Stromerzeugung nach Jahr und Energieträger</a:t>
            </a:r>
            <a:endParaRPr/>
          </a:p>
          <a:p>
            <a:pPr indent="-304800" lvl="0" marL="457200" rtl="0" algn="l">
              <a:lnSpc>
                <a:spcPct val="100000"/>
              </a:lnSpc>
              <a:spcBef>
                <a:spcPts val="0"/>
              </a:spcBef>
              <a:spcAft>
                <a:spcPts val="0"/>
              </a:spcAft>
              <a:buSzPts val="1200"/>
              <a:buChar char="●"/>
            </a:pPr>
            <a:r>
              <a:rPr lang="en"/>
              <a:t>Berechnung des Anteils jedes Energieträgers am Strommix</a:t>
            </a:r>
            <a:endParaRPr/>
          </a:p>
          <a:p>
            <a:pPr indent="-304800" lvl="0" marL="457200" rtl="0" algn="l">
              <a:lnSpc>
                <a:spcPct val="100000"/>
              </a:lnSpc>
              <a:spcBef>
                <a:spcPts val="0"/>
              </a:spcBef>
              <a:spcAft>
                <a:spcPts val="0"/>
              </a:spcAft>
              <a:buSzPts val="1200"/>
              <a:buChar char="●"/>
            </a:pPr>
            <a:r>
              <a:rPr lang="en"/>
              <a:t>Grundlage für die Analyse der Rolle der Kernenergie vor und nach dem Atomausstieg</a:t>
            </a:r>
            <a:endParaRPr/>
          </a:p>
          <a:p>
            <a:pPr indent="0" lvl="0" marL="0" rtl="0" algn="l">
              <a:lnSpc>
                <a:spcPct val="100000"/>
              </a:lnSpc>
              <a:spcBef>
                <a:spcPts val="1600"/>
              </a:spcBef>
              <a:spcAft>
                <a:spcPts val="0"/>
              </a:spcAft>
              <a:buNone/>
            </a:pPr>
            <a:r>
              <a:rPr b="1" lang="en"/>
              <a:t>Analytischer Zweck: </a:t>
            </a:r>
            <a:endParaRPr b="1"/>
          </a:p>
          <a:p>
            <a:pPr indent="-304800" lvl="0" marL="457200" rtl="0" algn="l">
              <a:lnSpc>
                <a:spcPct val="100000"/>
              </a:lnSpc>
              <a:spcBef>
                <a:spcPts val="1600"/>
              </a:spcBef>
              <a:spcAft>
                <a:spcPts val="0"/>
              </a:spcAft>
              <a:buSzPts val="1200"/>
              <a:buChar char="●"/>
            </a:pPr>
            <a:r>
              <a:rPr lang="en"/>
              <a:t>Transformation hochfrequenter Erzeugungsdaten in ein kompaktes, jährliches Format</a:t>
            </a:r>
            <a:endParaRPr/>
          </a:p>
          <a:p>
            <a:pPr indent="-304800" lvl="0" marL="457200" rtl="0" algn="l">
              <a:lnSpc>
                <a:spcPct val="100000"/>
              </a:lnSpc>
              <a:spcBef>
                <a:spcPts val="0"/>
              </a:spcBef>
              <a:spcAft>
                <a:spcPts val="0"/>
              </a:spcAft>
              <a:buSzPts val="1200"/>
              <a:buChar char="●"/>
            </a:pPr>
            <a:r>
              <a:rPr lang="en"/>
              <a:t>Mathematische Ermittlung der exakten Marktanteile einzelner Energieträger</a:t>
            </a:r>
            <a:endParaRPr/>
          </a:p>
          <a:p>
            <a:pPr indent="0" lvl="0" marL="0" rtl="0" algn="l">
              <a:spcBef>
                <a:spcPts val="1600"/>
              </a:spcBef>
              <a:spcAft>
                <a:spcPts val="1600"/>
              </a:spcAft>
              <a:buNone/>
            </a:pPr>
            <a:r>
              <a:t/>
            </a:r>
            <a:endParaRPr/>
          </a:p>
        </p:txBody>
      </p:sp>
      <p:pic>
        <p:nvPicPr>
          <p:cNvPr id="154" name="Google Shape;154;p25" title="Снимок экрана — 2026-05-27 в 12.38.01.png"/>
          <p:cNvPicPr preferRelativeResize="0"/>
          <p:nvPr/>
        </p:nvPicPr>
        <p:blipFill>
          <a:blip r:embed="rId3">
            <a:alphaModFix/>
          </a:blip>
          <a:stretch>
            <a:fillRect/>
          </a:stretch>
        </p:blipFill>
        <p:spPr>
          <a:xfrm>
            <a:off x="4316875" y="149200"/>
            <a:ext cx="3943974" cy="1808925"/>
          </a:xfrm>
          <a:prstGeom prst="rect">
            <a:avLst/>
          </a:prstGeom>
          <a:noFill/>
          <a:ln>
            <a:noFill/>
          </a:ln>
        </p:spPr>
      </p:pic>
      <p:pic>
        <p:nvPicPr>
          <p:cNvPr id="155" name="Google Shape;155;p25" title="Снимок экрана — 2026-05-27 в 12.39.47.png"/>
          <p:cNvPicPr preferRelativeResize="0"/>
          <p:nvPr/>
        </p:nvPicPr>
        <p:blipFill>
          <a:blip r:embed="rId4">
            <a:alphaModFix/>
          </a:blip>
          <a:stretch>
            <a:fillRect/>
          </a:stretch>
        </p:blipFill>
        <p:spPr>
          <a:xfrm>
            <a:off x="4316875" y="3027200"/>
            <a:ext cx="3943974" cy="14125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6"/>
          <p:cNvSpPr txBox="1"/>
          <p:nvPr>
            <p:ph type="title"/>
          </p:nvPr>
        </p:nvSpPr>
        <p:spPr>
          <a:xfrm>
            <a:off x="226075" y="149200"/>
            <a:ext cx="2808000" cy="576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Beispiel SQL-View</a:t>
            </a:r>
            <a:endParaRPr sz="2000"/>
          </a:p>
        </p:txBody>
      </p:sp>
      <p:sp>
        <p:nvSpPr>
          <p:cNvPr id="161" name="Google Shape;161;p26"/>
          <p:cNvSpPr txBox="1"/>
          <p:nvPr>
            <p:ph idx="1" type="body"/>
          </p:nvPr>
        </p:nvSpPr>
        <p:spPr>
          <a:xfrm>
            <a:off x="226075" y="725800"/>
            <a:ext cx="2808000" cy="4104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u="sng"/>
              <a:t>Beispiel 2: v09_preisbestandteile_insgesamt.csv</a:t>
            </a:r>
            <a:endParaRPr b="1" u="sng"/>
          </a:p>
          <a:p>
            <a:pPr indent="0" lvl="0" marL="0" rtl="0" algn="l">
              <a:lnSpc>
                <a:spcPct val="100000"/>
              </a:lnSpc>
              <a:spcBef>
                <a:spcPts val="1600"/>
              </a:spcBef>
              <a:spcAft>
                <a:spcPts val="0"/>
              </a:spcAft>
              <a:buNone/>
            </a:pPr>
            <a:r>
              <a:rPr b="1" lang="en" sz="1100"/>
              <a:t>Funktion der View:</a:t>
            </a:r>
            <a:endParaRPr b="1" sz="1100"/>
          </a:p>
          <a:p>
            <a:pPr indent="-298450" lvl="0" marL="457200" rtl="0" algn="l">
              <a:lnSpc>
                <a:spcPct val="100000"/>
              </a:lnSpc>
              <a:spcBef>
                <a:spcPts val="1600"/>
              </a:spcBef>
              <a:spcAft>
                <a:spcPts val="0"/>
              </a:spcAft>
              <a:buSzPts val="1100"/>
              <a:buChar char="●"/>
            </a:pPr>
            <a:r>
              <a:rPr lang="en" sz="1100"/>
              <a:t>Aufbereitung der Strompreisbestandteile nach Jahr</a:t>
            </a:r>
            <a:endParaRPr sz="1100"/>
          </a:p>
          <a:p>
            <a:pPr indent="-298450" lvl="0" marL="457200" rtl="0" algn="l">
              <a:lnSpc>
                <a:spcPct val="100000"/>
              </a:lnSpc>
              <a:spcBef>
                <a:spcPts val="0"/>
              </a:spcBef>
              <a:spcAft>
                <a:spcPts val="0"/>
              </a:spcAft>
              <a:buSzPts val="1100"/>
              <a:buChar char="●"/>
            </a:pPr>
            <a:r>
              <a:rPr lang="en" sz="1100"/>
              <a:t>Umrechnung der Preisbestandteile von Euro in Cent pro kWh</a:t>
            </a:r>
            <a:endParaRPr sz="1100"/>
          </a:p>
          <a:p>
            <a:pPr indent="-298450" lvl="0" marL="457200" rtl="0" algn="l">
              <a:lnSpc>
                <a:spcPct val="100000"/>
              </a:lnSpc>
              <a:spcBef>
                <a:spcPts val="0"/>
              </a:spcBef>
              <a:spcAft>
                <a:spcPts val="0"/>
              </a:spcAft>
              <a:buSzPts val="1100"/>
              <a:buChar char="●"/>
            </a:pPr>
            <a:r>
              <a:rPr lang="en" sz="1100"/>
              <a:t>Grundlage für die Analyse der Zusammensetzung der Haushaltsstrompreise</a:t>
            </a:r>
            <a:endParaRPr sz="1100"/>
          </a:p>
          <a:p>
            <a:pPr indent="0" lvl="0" marL="0" rtl="0" algn="l">
              <a:lnSpc>
                <a:spcPct val="100000"/>
              </a:lnSpc>
              <a:spcBef>
                <a:spcPts val="1600"/>
              </a:spcBef>
              <a:spcAft>
                <a:spcPts val="0"/>
              </a:spcAft>
              <a:buNone/>
            </a:pPr>
            <a:r>
              <a:rPr b="1" lang="en" sz="1100"/>
              <a:t>Analytischer Zweck: </a:t>
            </a:r>
            <a:endParaRPr b="1" sz="1100"/>
          </a:p>
          <a:p>
            <a:pPr indent="-298450" lvl="0" marL="457200" rtl="0" algn="l">
              <a:lnSpc>
                <a:spcPct val="100000"/>
              </a:lnSpc>
              <a:spcBef>
                <a:spcPts val="1600"/>
              </a:spcBef>
              <a:spcAft>
                <a:spcPts val="0"/>
              </a:spcAft>
              <a:buSzPts val="1100"/>
              <a:buChar char="●"/>
            </a:pPr>
            <a:r>
              <a:rPr lang="en" sz="1100"/>
              <a:t>Analyse der Entwicklung der Preisbestandteile im Zeitverlauf</a:t>
            </a:r>
            <a:endParaRPr sz="1100"/>
          </a:p>
          <a:p>
            <a:pPr indent="-298450" lvl="0" marL="457200" rtl="0" algn="l">
              <a:lnSpc>
                <a:spcPct val="100000"/>
              </a:lnSpc>
              <a:spcBef>
                <a:spcPts val="0"/>
              </a:spcBef>
              <a:spcAft>
                <a:spcPts val="0"/>
              </a:spcAft>
              <a:buSzPts val="1100"/>
              <a:buChar char="●"/>
            </a:pPr>
            <a:r>
              <a:rPr lang="en" sz="1100"/>
              <a:t>Untersuchung, welche Komponenten den Haushaltsstrompreis besonders beeinflusst haben</a:t>
            </a:r>
            <a:endParaRPr/>
          </a:p>
          <a:p>
            <a:pPr indent="0" lvl="0" marL="0" rtl="0" algn="l">
              <a:spcBef>
                <a:spcPts val="1600"/>
              </a:spcBef>
              <a:spcAft>
                <a:spcPts val="1600"/>
              </a:spcAft>
              <a:buNone/>
            </a:pPr>
            <a:r>
              <a:t/>
            </a:r>
            <a:endParaRPr/>
          </a:p>
        </p:txBody>
      </p:sp>
      <p:pic>
        <p:nvPicPr>
          <p:cNvPr id="162" name="Google Shape;162;p26" title="Снимок экрана — 2026-05-27 в 12.27.37.png"/>
          <p:cNvPicPr preferRelativeResize="0"/>
          <p:nvPr/>
        </p:nvPicPr>
        <p:blipFill>
          <a:blip r:embed="rId3">
            <a:alphaModFix/>
          </a:blip>
          <a:stretch>
            <a:fillRect/>
          </a:stretch>
        </p:blipFill>
        <p:spPr>
          <a:xfrm>
            <a:off x="4629050" y="322900"/>
            <a:ext cx="3164826" cy="1963074"/>
          </a:xfrm>
          <a:prstGeom prst="rect">
            <a:avLst/>
          </a:prstGeom>
          <a:noFill/>
          <a:ln>
            <a:noFill/>
          </a:ln>
        </p:spPr>
      </p:pic>
      <p:pic>
        <p:nvPicPr>
          <p:cNvPr id="163" name="Google Shape;163;p26" title="Снимок экрана — 2026-05-27 в 12.28.21.png"/>
          <p:cNvPicPr preferRelativeResize="0"/>
          <p:nvPr/>
        </p:nvPicPr>
        <p:blipFill>
          <a:blip r:embed="rId4">
            <a:alphaModFix/>
          </a:blip>
          <a:stretch>
            <a:fillRect/>
          </a:stretch>
        </p:blipFill>
        <p:spPr>
          <a:xfrm>
            <a:off x="3830463" y="2935776"/>
            <a:ext cx="4761976" cy="10708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Zentrale Ergebnisse der SQL-Voranalyse</a:t>
            </a:r>
            <a:endParaRPr/>
          </a:p>
        </p:txBody>
      </p:sp>
      <p:sp>
        <p:nvSpPr>
          <p:cNvPr id="169" name="Google Shape;169;p27"/>
          <p:cNvSpPr txBox="1"/>
          <p:nvPr>
            <p:ph idx="1" type="body"/>
          </p:nvPr>
        </p:nvSpPr>
        <p:spPr>
          <a:xfrm>
            <a:off x="471900" y="1919075"/>
            <a:ext cx="39999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In SQL wurde analysiert:</a:t>
            </a:r>
            <a:endParaRPr b="1"/>
          </a:p>
          <a:p>
            <a:pPr indent="-317500" lvl="0" marL="457200" rtl="0" algn="l">
              <a:spcBef>
                <a:spcPts val="1600"/>
              </a:spcBef>
              <a:spcAft>
                <a:spcPts val="0"/>
              </a:spcAft>
              <a:buSzPts val="1400"/>
              <a:buChar char="●"/>
            </a:pPr>
            <a:r>
              <a:rPr lang="en"/>
              <a:t>Strommix vor und nach dem Atomausstieg</a:t>
            </a:r>
            <a:endParaRPr/>
          </a:p>
          <a:p>
            <a:pPr indent="-317500" lvl="0" marL="457200" rtl="0" algn="l">
              <a:spcBef>
                <a:spcPts val="0"/>
              </a:spcBef>
              <a:spcAft>
                <a:spcPts val="0"/>
              </a:spcAft>
              <a:buSzPts val="1400"/>
              <a:buChar char="●"/>
            </a:pPr>
            <a:r>
              <a:rPr lang="en"/>
              <a:t>Ersatz der weggefallenen Kernenergie</a:t>
            </a:r>
            <a:endParaRPr/>
          </a:p>
          <a:p>
            <a:pPr indent="-317500" lvl="0" marL="457200" rtl="0" algn="l">
              <a:spcBef>
                <a:spcPts val="0"/>
              </a:spcBef>
              <a:spcAft>
                <a:spcPts val="0"/>
              </a:spcAft>
              <a:buSzPts val="1400"/>
              <a:buChar char="●"/>
            </a:pPr>
            <a:r>
              <a:rPr lang="en"/>
              <a:t>Haushaltsstrompreise und Preisbestandteile</a:t>
            </a:r>
            <a:endParaRPr/>
          </a:p>
          <a:p>
            <a:pPr indent="-317500" lvl="0" marL="457200" rtl="0" algn="l">
              <a:spcBef>
                <a:spcPts val="0"/>
              </a:spcBef>
              <a:spcAft>
                <a:spcPts val="0"/>
              </a:spcAft>
              <a:buSzPts val="1400"/>
              <a:buChar char="●"/>
            </a:pPr>
            <a:r>
              <a:rPr lang="en"/>
              <a:t>Importe, Exporte und Handelsbilanz</a:t>
            </a:r>
            <a:endParaRPr/>
          </a:p>
          <a:p>
            <a:pPr indent="-317500" lvl="0" marL="457200" rtl="0" algn="l">
              <a:spcBef>
                <a:spcPts val="0"/>
              </a:spcBef>
              <a:spcAft>
                <a:spcPts val="0"/>
              </a:spcAft>
              <a:buSzPts val="1400"/>
              <a:buChar char="●"/>
            </a:pPr>
            <a:r>
              <a:rPr lang="en"/>
              <a:t>Brennstoffpreisindizes für Erdgas, Steinkohle und Braunkohle</a:t>
            </a:r>
            <a:endParaRPr/>
          </a:p>
          <a:p>
            <a:pPr indent="0" lvl="0" marL="457200" rtl="0" algn="l">
              <a:spcBef>
                <a:spcPts val="1600"/>
              </a:spcBef>
              <a:spcAft>
                <a:spcPts val="0"/>
              </a:spcAft>
              <a:buNone/>
            </a:pPr>
            <a:r>
              <a:t/>
            </a:r>
            <a:endParaRPr/>
          </a:p>
          <a:p>
            <a:pPr indent="0" lvl="0" marL="0" rtl="0" algn="l">
              <a:spcBef>
                <a:spcPts val="1600"/>
              </a:spcBef>
              <a:spcAft>
                <a:spcPts val="1600"/>
              </a:spcAft>
              <a:buNone/>
            </a:pPr>
            <a:r>
              <a:t/>
            </a:r>
            <a:endParaRPr/>
          </a:p>
        </p:txBody>
      </p:sp>
      <p:sp>
        <p:nvSpPr>
          <p:cNvPr id="170" name="Google Shape;170;p27"/>
          <p:cNvSpPr txBox="1"/>
          <p:nvPr>
            <p:ph idx="2" type="body"/>
          </p:nvPr>
        </p:nvSpPr>
        <p:spPr>
          <a:xfrm>
            <a:off x="4694250" y="1919075"/>
            <a:ext cx="3999900" cy="3817200"/>
          </a:xfrm>
          <a:prstGeom prst="rect">
            <a:avLst/>
          </a:prstGeom>
        </p:spPr>
        <p:txBody>
          <a:bodyPr anchorCtr="0" anchor="t" bIns="91425" lIns="91425" spcFirstLastPara="1" rIns="91425" wrap="square" tIns="91425">
            <a:normAutofit lnSpcReduction="10000"/>
          </a:bodyPr>
          <a:lstStyle/>
          <a:p>
            <a:pPr indent="0" lvl="0" marL="0" rtl="0" algn="l">
              <a:lnSpc>
                <a:spcPct val="100000"/>
              </a:lnSpc>
              <a:spcBef>
                <a:spcPts val="0"/>
              </a:spcBef>
              <a:spcAft>
                <a:spcPts val="0"/>
              </a:spcAft>
              <a:buNone/>
            </a:pPr>
            <a:r>
              <a:rPr b="1" lang="en"/>
              <a:t>Ergebnisse:</a:t>
            </a:r>
            <a:endParaRPr b="1"/>
          </a:p>
          <a:p>
            <a:pPr indent="-317500" lvl="0" marL="457200" marR="0" rtl="0" algn="l">
              <a:lnSpc>
                <a:spcPct val="115000"/>
              </a:lnSpc>
              <a:spcBef>
                <a:spcPts val="1600"/>
              </a:spcBef>
              <a:spcAft>
                <a:spcPts val="0"/>
              </a:spcAft>
              <a:buSzPts val="1400"/>
              <a:buChar char="●"/>
            </a:pPr>
            <a:r>
              <a:rPr lang="en"/>
              <a:t>Kernenergie hatte vor 2023 einen relevanten Anteil am Strommix</a:t>
            </a:r>
            <a:endParaRPr/>
          </a:p>
          <a:p>
            <a:pPr indent="-317500" lvl="0" marL="457200" marR="0" rtl="0" algn="l">
              <a:lnSpc>
                <a:spcPct val="115000"/>
              </a:lnSpc>
              <a:spcBef>
                <a:spcPts val="0"/>
              </a:spcBef>
              <a:spcAft>
                <a:spcPts val="0"/>
              </a:spcAft>
              <a:buSzPts val="1400"/>
              <a:buChar char="●"/>
            </a:pPr>
            <a:r>
              <a:rPr lang="en"/>
              <a:t>Nach dem Atomausstieg stiegen Erneuerbare Energien und Import</a:t>
            </a:r>
            <a:endParaRPr/>
          </a:p>
          <a:p>
            <a:pPr indent="-317500" lvl="0" marL="457200" marR="0" rtl="0" algn="l">
              <a:lnSpc>
                <a:spcPct val="115000"/>
              </a:lnSpc>
              <a:spcBef>
                <a:spcPts val="0"/>
              </a:spcBef>
              <a:spcAft>
                <a:spcPts val="0"/>
              </a:spcAft>
              <a:buSzPts val="1400"/>
              <a:buChar char="●"/>
            </a:pPr>
            <a:r>
              <a:rPr lang="en"/>
              <a:t>Der Stromverbrauch ging zurück</a:t>
            </a:r>
            <a:endParaRPr/>
          </a:p>
          <a:p>
            <a:pPr indent="-317500" lvl="0" marL="457200" marR="0" rtl="0" algn="l">
              <a:lnSpc>
                <a:spcPct val="115000"/>
              </a:lnSpc>
              <a:spcBef>
                <a:spcPts val="0"/>
              </a:spcBef>
              <a:spcAft>
                <a:spcPts val="0"/>
              </a:spcAft>
              <a:buSzPts val="1400"/>
              <a:buChar char="●"/>
            </a:pPr>
            <a:r>
              <a:rPr lang="en"/>
              <a:t>Die Preisbestandteile zeigten, dass besonders Energie und Vertrieb zunahmen</a:t>
            </a:r>
            <a:endParaRPr/>
          </a:p>
          <a:p>
            <a:pPr indent="-317500" lvl="0" marL="457200" marR="0" rtl="0" algn="l">
              <a:lnSpc>
                <a:spcPct val="115000"/>
              </a:lnSpc>
              <a:spcBef>
                <a:spcPts val="0"/>
              </a:spcBef>
              <a:spcAft>
                <a:spcPts val="0"/>
              </a:spcAft>
              <a:buSzPts val="1400"/>
              <a:buChar char="●"/>
            </a:pPr>
            <a:r>
              <a:rPr lang="en"/>
              <a:t>Die Brennstoffpreisindizes machten starke Preissteigerungen bei Erdgas und Steinkohle sichtbar</a:t>
            </a:r>
            <a:endParaRPr/>
          </a:p>
          <a:p>
            <a:pPr indent="0" lvl="0" marL="0" rtl="0" algn="l">
              <a:lnSpc>
                <a:spcPct val="100000"/>
              </a:lnSpc>
              <a:spcBef>
                <a:spcPts val="1600"/>
              </a:spcBef>
              <a:spcAft>
                <a:spcPts val="0"/>
              </a:spcAft>
              <a:buNone/>
            </a:pPr>
            <a:r>
              <a:t/>
            </a:r>
            <a:endParaRPr b="1"/>
          </a:p>
          <a:p>
            <a:pPr indent="0" lvl="0" marL="0" rtl="0" algn="l">
              <a:spcBef>
                <a:spcPts val="1600"/>
              </a:spcBef>
              <a:spcAft>
                <a:spcPts val="16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pic>
        <p:nvPicPr>
          <p:cNvPr id="175" name="Google Shape;175;p28" title="gheorghe-lupan-zJ71muVYx_g-unsplash.jpg"/>
          <p:cNvPicPr preferRelativeResize="0"/>
          <p:nvPr/>
        </p:nvPicPr>
        <p:blipFill>
          <a:blip r:embed="rId3">
            <a:alphaModFix amt="82000"/>
          </a:blip>
          <a:stretch>
            <a:fillRect/>
          </a:stretch>
        </p:blipFill>
        <p:spPr>
          <a:xfrm>
            <a:off x="0" y="0"/>
            <a:ext cx="9144003" cy="5143501"/>
          </a:xfrm>
          <a:prstGeom prst="rect">
            <a:avLst/>
          </a:prstGeom>
          <a:noFill/>
          <a:ln>
            <a:noFill/>
          </a:ln>
        </p:spPr>
      </p:pic>
      <p:sp>
        <p:nvSpPr>
          <p:cNvPr id="176" name="Google Shape;176;p28"/>
          <p:cNvSpPr txBox="1"/>
          <p:nvPr>
            <p:ph type="title"/>
          </p:nvPr>
        </p:nvSpPr>
        <p:spPr>
          <a:xfrm>
            <a:off x="460950" y="1229350"/>
            <a:ext cx="8222100" cy="1187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MS Power BI. </a:t>
            </a:r>
            <a:r>
              <a:rPr lang="en"/>
              <a:t>Visualisierung</a:t>
            </a:r>
            <a:r>
              <a:rPr lang="en"/>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9"/>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Datenmodell</a:t>
            </a:r>
            <a:endParaRPr/>
          </a:p>
        </p:txBody>
      </p:sp>
      <p:sp>
        <p:nvSpPr>
          <p:cNvPr id="182" name="Google Shape;182;p29"/>
          <p:cNvSpPr txBox="1"/>
          <p:nvPr>
            <p:ph idx="1" type="body"/>
          </p:nvPr>
        </p:nvSpPr>
        <p:spPr>
          <a:xfrm>
            <a:off x="226075" y="1465800"/>
            <a:ext cx="2808000" cy="31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Arbeitsschritte</a:t>
            </a:r>
            <a:endParaRPr b="1"/>
          </a:p>
          <a:p>
            <a:pPr indent="-304800" lvl="0" marL="457200" rtl="0" algn="l">
              <a:spcBef>
                <a:spcPts val="1600"/>
              </a:spcBef>
              <a:spcAft>
                <a:spcPts val="0"/>
              </a:spcAft>
              <a:buSzPts val="1200"/>
              <a:buChar char="●"/>
            </a:pPr>
            <a:r>
              <a:rPr lang="en"/>
              <a:t>Import der SQL-Views</a:t>
            </a:r>
            <a:endParaRPr/>
          </a:p>
          <a:p>
            <a:pPr indent="-304800" lvl="0" marL="457200" rtl="0" algn="l">
              <a:spcBef>
                <a:spcPts val="0"/>
              </a:spcBef>
              <a:spcAft>
                <a:spcPts val="0"/>
              </a:spcAft>
              <a:buSzPts val="1200"/>
              <a:buChar char="●"/>
            </a:pPr>
            <a:r>
              <a:rPr lang="en"/>
              <a:t>Aufbau des Datenmodells</a:t>
            </a:r>
            <a:endParaRPr/>
          </a:p>
          <a:p>
            <a:pPr indent="-304800" lvl="0" marL="457200" rtl="0" algn="l">
              <a:spcBef>
                <a:spcPts val="0"/>
              </a:spcBef>
              <a:spcAft>
                <a:spcPts val="0"/>
              </a:spcAft>
              <a:buSzPts val="1200"/>
              <a:buChar char="●"/>
            </a:pPr>
            <a:r>
              <a:rPr lang="en"/>
              <a:t>Beziehungen zwischen Tabellen</a:t>
            </a:r>
            <a:endParaRPr/>
          </a:p>
          <a:p>
            <a:pPr indent="-304800" lvl="0" marL="457200" rtl="0" algn="l">
              <a:spcBef>
                <a:spcPts val="0"/>
              </a:spcBef>
              <a:spcAft>
                <a:spcPts val="0"/>
              </a:spcAft>
              <a:buSzPts val="1200"/>
              <a:buChar char="●"/>
            </a:pPr>
            <a:r>
              <a:rPr lang="en"/>
              <a:t>Measures &amp; KPIs</a:t>
            </a:r>
            <a:endParaRPr/>
          </a:p>
          <a:p>
            <a:pPr indent="0" lvl="0" marL="0" rtl="0" algn="l">
              <a:spcBef>
                <a:spcPts val="1600"/>
              </a:spcBef>
              <a:spcAft>
                <a:spcPts val="0"/>
              </a:spcAft>
              <a:buNone/>
            </a:pPr>
            <a:r>
              <a:rPr b="1" lang="en"/>
              <a:t>Zusätzliche Elemente</a:t>
            </a:r>
            <a:endParaRPr b="1"/>
          </a:p>
          <a:p>
            <a:pPr indent="-304800" lvl="0" marL="457200" rtl="0" algn="l">
              <a:spcBef>
                <a:spcPts val="1600"/>
              </a:spcBef>
              <a:spcAft>
                <a:spcPts val="0"/>
              </a:spcAft>
              <a:buSzPts val="1200"/>
              <a:buChar char="●"/>
            </a:pPr>
            <a:r>
              <a:rPr lang="en"/>
              <a:t>DateTable</a:t>
            </a:r>
            <a:endParaRPr/>
          </a:p>
          <a:p>
            <a:pPr indent="-304800" lvl="0" marL="457200" rtl="0" algn="l">
              <a:spcBef>
                <a:spcPts val="0"/>
              </a:spcBef>
              <a:spcAft>
                <a:spcPts val="0"/>
              </a:spcAft>
              <a:buSzPts val="1200"/>
              <a:buChar char="●"/>
            </a:pPr>
            <a:r>
              <a:rPr lang="en"/>
              <a:t>Measures</a:t>
            </a:r>
            <a:endParaRPr/>
          </a:p>
          <a:p>
            <a:pPr indent="-304800" lvl="0" marL="457200" rtl="0" algn="l">
              <a:spcBef>
                <a:spcPts val="0"/>
              </a:spcBef>
              <a:spcAft>
                <a:spcPts val="0"/>
              </a:spcAft>
              <a:buSzPts val="1200"/>
              <a:buChar char="●"/>
            </a:pPr>
            <a:r>
              <a:rPr lang="en"/>
              <a:t>Kompensationsfaktoren-Tabelle</a:t>
            </a:r>
            <a:endParaRPr/>
          </a:p>
          <a:p>
            <a:pPr indent="0" lvl="0" marL="0" rtl="0" algn="l">
              <a:spcBef>
                <a:spcPts val="1600"/>
              </a:spcBef>
              <a:spcAft>
                <a:spcPts val="1600"/>
              </a:spcAft>
              <a:buNone/>
            </a:pPr>
            <a:r>
              <a:t/>
            </a:r>
            <a:endParaRPr/>
          </a:p>
        </p:txBody>
      </p:sp>
      <p:pic>
        <p:nvPicPr>
          <p:cNvPr id="183" name="Google Shape;183;p29"/>
          <p:cNvPicPr preferRelativeResize="0"/>
          <p:nvPr/>
        </p:nvPicPr>
        <p:blipFill>
          <a:blip r:embed="rId3">
            <a:alphaModFix/>
          </a:blip>
          <a:stretch>
            <a:fillRect/>
          </a:stretch>
        </p:blipFill>
        <p:spPr>
          <a:xfrm>
            <a:off x="3396700" y="579550"/>
            <a:ext cx="5610598" cy="398439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type="title"/>
          </p:nvPr>
        </p:nvSpPr>
        <p:spPr>
          <a:xfrm>
            <a:off x="226075" y="529900"/>
            <a:ext cx="2808000" cy="12006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 sz="2200"/>
              <a:t>Strommix </a:t>
            </a:r>
            <a:endParaRPr sz="2200"/>
          </a:p>
          <a:p>
            <a:pPr indent="0" lvl="0" marL="0" rtl="0" algn="l">
              <a:spcBef>
                <a:spcPts val="0"/>
              </a:spcBef>
              <a:spcAft>
                <a:spcPts val="0"/>
              </a:spcAft>
              <a:buNone/>
            </a:pPr>
            <a:r>
              <a:rPr lang="en" sz="2200"/>
              <a:t>vor und nach Atomausstieg</a:t>
            </a:r>
            <a:endParaRPr sz="2200"/>
          </a:p>
        </p:txBody>
      </p:sp>
      <p:sp>
        <p:nvSpPr>
          <p:cNvPr id="189" name="Google Shape;189;p30"/>
          <p:cNvSpPr txBox="1"/>
          <p:nvPr>
            <p:ph idx="1" type="body"/>
          </p:nvPr>
        </p:nvSpPr>
        <p:spPr>
          <a:xfrm>
            <a:off x="226075" y="1999475"/>
            <a:ext cx="2808000" cy="28680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000"/>
              <a:t>Inhalte</a:t>
            </a:r>
            <a:endParaRPr b="1" sz="1000"/>
          </a:p>
          <a:p>
            <a:pPr indent="-292100" lvl="0" marL="457200" rtl="0" algn="l">
              <a:lnSpc>
                <a:spcPct val="100000"/>
              </a:lnSpc>
              <a:spcBef>
                <a:spcPts val="1600"/>
              </a:spcBef>
              <a:spcAft>
                <a:spcPts val="0"/>
              </a:spcAft>
              <a:buSzPts val="1000"/>
              <a:buChar char="●"/>
            </a:pPr>
            <a:r>
              <a:rPr lang="en" sz="1000"/>
              <a:t>Struktur des Strommixes 2019–2025</a:t>
            </a:r>
            <a:endParaRPr sz="1000"/>
          </a:p>
          <a:p>
            <a:pPr indent="-292100" lvl="0" marL="457200" rtl="0" algn="l">
              <a:lnSpc>
                <a:spcPct val="100000"/>
              </a:lnSpc>
              <a:spcBef>
                <a:spcPts val="0"/>
              </a:spcBef>
              <a:spcAft>
                <a:spcPts val="0"/>
              </a:spcAft>
              <a:buSzPts val="1000"/>
              <a:buChar char="●"/>
            </a:pPr>
            <a:r>
              <a:rPr lang="en" sz="1000"/>
              <a:t>Anteil erneuerbarer Energien im Strommix</a:t>
            </a:r>
            <a:endParaRPr sz="1000"/>
          </a:p>
          <a:p>
            <a:pPr indent="-292100" lvl="0" marL="457200" rtl="0" algn="l">
              <a:lnSpc>
                <a:spcPct val="100000"/>
              </a:lnSpc>
              <a:spcBef>
                <a:spcPts val="0"/>
              </a:spcBef>
              <a:spcAft>
                <a:spcPts val="0"/>
              </a:spcAft>
              <a:buSzPts val="1000"/>
              <a:buChar char="●"/>
            </a:pPr>
            <a:r>
              <a:rPr lang="en" sz="1000"/>
              <a:t>Vergleich vor/nach Atomausstieg</a:t>
            </a:r>
            <a:endParaRPr sz="1000"/>
          </a:p>
          <a:p>
            <a:pPr indent="0" lvl="0" marL="0" rtl="0" algn="l">
              <a:lnSpc>
                <a:spcPct val="100000"/>
              </a:lnSpc>
              <a:spcBef>
                <a:spcPts val="1600"/>
              </a:spcBef>
              <a:spcAft>
                <a:spcPts val="0"/>
              </a:spcAft>
              <a:buNone/>
            </a:pPr>
            <a:r>
              <a:rPr b="1" lang="en" sz="1000"/>
              <a:t>Kernaussage</a:t>
            </a:r>
            <a:endParaRPr b="1" sz="1000"/>
          </a:p>
          <a:p>
            <a:pPr indent="0" lvl="0" marL="0" rtl="0" algn="l">
              <a:lnSpc>
                <a:spcPct val="100000"/>
              </a:lnSpc>
              <a:spcBef>
                <a:spcPts val="1600"/>
              </a:spcBef>
              <a:spcAft>
                <a:spcPts val="0"/>
              </a:spcAft>
              <a:buNone/>
            </a:pPr>
            <a:r>
              <a:rPr lang="en" sz="1000"/>
              <a:t>Nach dem Atomausstieg veränderte sich die Struktur des Strommixes deutlich. Der Wegfall der Kernenergie führte zu einem höheren Anteil erneuerbarer Energien und zu Veränderungen bei den übrigen Energieträgern</a:t>
            </a:r>
            <a:endParaRPr sz="1000"/>
          </a:p>
          <a:p>
            <a:pPr indent="0" lvl="0" marL="0" rtl="0" algn="l">
              <a:spcBef>
                <a:spcPts val="1600"/>
              </a:spcBef>
              <a:spcAft>
                <a:spcPts val="1600"/>
              </a:spcAft>
              <a:buNone/>
            </a:pPr>
            <a:r>
              <a:t/>
            </a:r>
            <a:endParaRPr sz="1100"/>
          </a:p>
        </p:txBody>
      </p:sp>
      <p:pic>
        <p:nvPicPr>
          <p:cNvPr id="190" name="Google Shape;190;p30"/>
          <p:cNvPicPr preferRelativeResize="0"/>
          <p:nvPr/>
        </p:nvPicPr>
        <p:blipFill>
          <a:blip r:embed="rId3">
            <a:alphaModFix/>
          </a:blip>
          <a:stretch>
            <a:fillRect/>
          </a:stretch>
        </p:blipFill>
        <p:spPr>
          <a:xfrm>
            <a:off x="3421500" y="879500"/>
            <a:ext cx="5506974" cy="35023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1"/>
          <p:cNvSpPr txBox="1"/>
          <p:nvPr>
            <p:ph type="title"/>
          </p:nvPr>
        </p:nvSpPr>
        <p:spPr>
          <a:xfrm>
            <a:off x="226075" y="445100"/>
            <a:ext cx="2808000" cy="86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00"/>
              <a:t>Ersatz </a:t>
            </a:r>
            <a:endParaRPr sz="2200"/>
          </a:p>
          <a:p>
            <a:pPr indent="0" lvl="0" marL="0" rtl="0" algn="l">
              <a:spcBef>
                <a:spcPts val="0"/>
              </a:spcBef>
              <a:spcAft>
                <a:spcPts val="0"/>
              </a:spcAft>
              <a:buNone/>
            </a:pPr>
            <a:r>
              <a:rPr lang="en" sz="2200"/>
              <a:t>der Kernenergie</a:t>
            </a:r>
            <a:endParaRPr sz="2200"/>
          </a:p>
        </p:txBody>
      </p:sp>
      <p:sp>
        <p:nvSpPr>
          <p:cNvPr id="196" name="Google Shape;196;p31"/>
          <p:cNvSpPr txBox="1"/>
          <p:nvPr>
            <p:ph idx="1" type="body"/>
          </p:nvPr>
        </p:nvSpPr>
        <p:spPr>
          <a:xfrm>
            <a:off x="226075" y="1621250"/>
            <a:ext cx="2808000" cy="30375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 sz="1000"/>
              <a:t>Inhalte</a:t>
            </a:r>
            <a:endParaRPr b="1" sz="1000"/>
          </a:p>
          <a:p>
            <a:pPr indent="-292100" lvl="0" marL="457200" rtl="0" algn="l">
              <a:lnSpc>
                <a:spcPct val="100000"/>
              </a:lnSpc>
              <a:spcBef>
                <a:spcPts val="1600"/>
              </a:spcBef>
              <a:spcAft>
                <a:spcPts val="0"/>
              </a:spcAft>
              <a:buSzPts val="1000"/>
              <a:buChar char="●"/>
            </a:pPr>
            <a:r>
              <a:rPr lang="en" sz="1000"/>
              <a:t>Kompensationsfaktoren der weggefallenen Kernenergie</a:t>
            </a:r>
            <a:endParaRPr sz="1000"/>
          </a:p>
          <a:p>
            <a:pPr indent="-292100" lvl="0" marL="457200" rtl="0" algn="l">
              <a:lnSpc>
                <a:spcPct val="100000"/>
              </a:lnSpc>
              <a:spcBef>
                <a:spcPts val="0"/>
              </a:spcBef>
              <a:spcAft>
                <a:spcPts val="0"/>
              </a:spcAft>
              <a:buSzPts val="1000"/>
              <a:buChar char="●"/>
            </a:pPr>
            <a:r>
              <a:rPr lang="en" sz="1000"/>
              <a:t>Entwicklung des Stromverbrauchs</a:t>
            </a:r>
            <a:endParaRPr sz="1000"/>
          </a:p>
          <a:p>
            <a:pPr indent="-292100" lvl="0" marL="457200" rtl="0" algn="l">
              <a:lnSpc>
                <a:spcPct val="100000"/>
              </a:lnSpc>
              <a:spcBef>
                <a:spcPts val="0"/>
              </a:spcBef>
              <a:spcAft>
                <a:spcPts val="0"/>
              </a:spcAft>
              <a:buSzPts val="1000"/>
              <a:buChar char="●"/>
            </a:pPr>
            <a:r>
              <a:rPr lang="en" sz="1000"/>
              <a:t>Importe, Exporte und Handelsbilanz</a:t>
            </a:r>
            <a:endParaRPr sz="1000"/>
          </a:p>
          <a:p>
            <a:pPr indent="-292100" lvl="0" marL="457200" rtl="0" algn="l">
              <a:lnSpc>
                <a:spcPct val="100000"/>
              </a:lnSpc>
              <a:spcBef>
                <a:spcPts val="0"/>
              </a:spcBef>
              <a:spcAft>
                <a:spcPts val="0"/>
              </a:spcAft>
              <a:buSzPts val="1000"/>
              <a:buChar char="●"/>
            </a:pPr>
            <a:r>
              <a:rPr lang="en" sz="1000"/>
              <a:t>Beitrag einzelner Kompensationsfaktoren</a:t>
            </a:r>
            <a:endParaRPr sz="1000"/>
          </a:p>
          <a:p>
            <a:pPr indent="0" lvl="0" marL="0" rtl="0" algn="l">
              <a:lnSpc>
                <a:spcPct val="100000"/>
              </a:lnSpc>
              <a:spcBef>
                <a:spcPts val="1600"/>
              </a:spcBef>
              <a:spcAft>
                <a:spcPts val="0"/>
              </a:spcAft>
              <a:buNone/>
            </a:pPr>
            <a:r>
              <a:rPr b="1" lang="en" sz="1000"/>
              <a:t>Kernaussage</a:t>
            </a:r>
            <a:endParaRPr b="1" sz="1000"/>
          </a:p>
          <a:p>
            <a:pPr indent="0" lvl="0" marL="0" rtl="0" algn="l">
              <a:lnSpc>
                <a:spcPct val="100000"/>
              </a:lnSpc>
              <a:spcBef>
                <a:spcPts val="1600"/>
              </a:spcBef>
              <a:spcAft>
                <a:spcPts val="0"/>
              </a:spcAft>
              <a:buNone/>
            </a:pPr>
            <a:r>
              <a:rPr lang="en" sz="1000"/>
              <a:t>Die weggefallene Kernenergie wurde vor allem durch erneuerbare Energien, höhere Importe und einen sinkenden Stromverbrauch kompensiert</a:t>
            </a:r>
            <a:endParaRPr sz="1000"/>
          </a:p>
          <a:p>
            <a:pPr indent="0" lvl="0" marL="0" rtl="0" algn="l">
              <a:lnSpc>
                <a:spcPct val="100000"/>
              </a:lnSpc>
              <a:spcBef>
                <a:spcPts val="1600"/>
              </a:spcBef>
              <a:spcAft>
                <a:spcPts val="1600"/>
              </a:spcAft>
              <a:buNone/>
            </a:pPr>
            <a:r>
              <a:t/>
            </a:r>
            <a:endParaRPr/>
          </a:p>
        </p:txBody>
      </p:sp>
      <p:pic>
        <p:nvPicPr>
          <p:cNvPr id="197" name="Google Shape;197;p31"/>
          <p:cNvPicPr preferRelativeResize="0"/>
          <p:nvPr/>
        </p:nvPicPr>
        <p:blipFill>
          <a:blip r:embed="rId3">
            <a:alphaModFix/>
          </a:blip>
          <a:stretch>
            <a:fillRect/>
          </a:stretch>
        </p:blipFill>
        <p:spPr>
          <a:xfrm>
            <a:off x="3431625" y="941325"/>
            <a:ext cx="5622800" cy="32608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2"/>
          <p:cNvSpPr txBox="1"/>
          <p:nvPr>
            <p:ph type="title"/>
          </p:nvPr>
        </p:nvSpPr>
        <p:spPr>
          <a:xfrm>
            <a:off x="226078" y="357800"/>
            <a:ext cx="2808000" cy="953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000"/>
              <a:t>Haushaltsstrompreise 2019–2025</a:t>
            </a:r>
            <a:endParaRPr sz="2000"/>
          </a:p>
        </p:txBody>
      </p:sp>
      <p:sp>
        <p:nvSpPr>
          <p:cNvPr id="203" name="Google Shape;203;p32"/>
          <p:cNvSpPr txBox="1"/>
          <p:nvPr>
            <p:ph idx="1" type="body"/>
          </p:nvPr>
        </p:nvSpPr>
        <p:spPr>
          <a:xfrm>
            <a:off x="226075" y="1465800"/>
            <a:ext cx="2808000" cy="33735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000"/>
              <a:t>Inhalte</a:t>
            </a:r>
            <a:endParaRPr b="1" sz="1000"/>
          </a:p>
          <a:p>
            <a:pPr indent="-292100" lvl="0" marL="457200" rtl="0" algn="l">
              <a:spcBef>
                <a:spcPts val="1600"/>
              </a:spcBef>
              <a:spcAft>
                <a:spcPts val="0"/>
              </a:spcAft>
              <a:buSzPts val="1000"/>
              <a:buChar char="●"/>
            </a:pPr>
            <a:r>
              <a:rPr lang="en" sz="1000"/>
              <a:t>Entwicklung der Haushaltsstrompreise</a:t>
            </a:r>
            <a:endParaRPr sz="1000"/>
          </a:p>
          <a:p>
            <a:pPr indent="-292100" lvl="0" marL="457200" rtl="0" algn="l">
              <a:spcBef>
                <a:spcPts val="0"/>
              </a:spcBef>
              <a:spcAft>
                <a:spcPts val="0"/>
              </a:spcAft>
              <a:buSzPts val="1000"/>
              <a:buChar char="●"/>
            </a:pPr>
            <a:r>
              <a:rPr lang="en" sz="1000"/>
              <a:t>Preisbestandteile im Zeitverlauf</a:t>
            </a:r>
            <a:endParaRPr sz="1000"/>
          </a:p>
          <a:p>
            <a:pPr indent="-292100" lvl="0" marL="457200" rtl="0" algn="l">
              <a:spcBef>
                <a:spcPts val="0"/>
              </a:spcBef>
              <a:spcAft>
                <a:spcPts val="0"/>
              </a:spcAft>
              <a:buSzPts val="1000"/>
              <a:buChar char="●"/>
            </a:pPr>
            <a:r>
              <a:rPr lang="en" sz="1000"/>
              <a:t>Energie und Vertrieb</a:t>
            </a:r>
            <a:endParaRPr sz="1000"/>
          </a:p>
          <a:p>
            <a:pPr indent="-292100" lvl="0" marL="457200" rtl="0" algn="l">
              <a:spcBef>
                <a:spcPts val="0"/>
              </a:spcBef>
              <a:spcAft>
                <a:spcPts val="0"/>
              </a:spcAft>
              <a:buSzPts val="1000"/>
              <a:buChar char="●"/>
            </a:pPr>
            <a:r>
              <a:rPr lang="en" sz="1000"/>
              <a:t>Netzkosten und Steuern</a:t>
            </a:r>
            <a:endParaRPr sz="1000"/>
          </a:p>
          <a:p>
            <a:pPr indent="0" lvl="0" marL="0" rtl="0" algn="l">
              <a:lnSpc>
                <a:spcPct val="100000"/>
              </a:lnSpc>
              <a:spcBef>
                <a:spcPts val="1600"/>
              </a:spcBef>
              <a:spcAft>
                <a:spcPts val="0"/>
              </a:spcAft>
              <a:buNone/>
            </a:pPr>
            <a:r>
              <a:rPr b="1" lang="en" sz="1000"/>
              <a:t>Kernaussage</a:t>
            </a:r>
            <a:endParaRPr b="1" sz="1000"/>
          </a:p>
          <a:p>
            <a:pPr indent="0" lvl="0" marL="0" rtl="0" algn="l">
              <a:lnSpc>
                <a:spcPct val="100000"/>
              </a:lnSpc>
              <a:spcBef>
                <a:spcPts val="1600"/>
              </a:spcBef>
              <a:spcAft>
                <a:spcPts val="0"/>
              </a:spcAft>
              <a:buNone/>
            </a:pPr>
            <a:r>
              <a:rPr lang="en" sz="1000"/>
              <a:t>Ab 2022 stiegen die Haushaltsstrompreise deutlich an und erreichten 2023 ihren Höchststand. Besonders stark entwickelte sich der Preisbestandteil Energie und Vertrieb</a:t>
            </a:r>
            <a:endParaRPr sz="1000"/>
          </a:p>
          <a:p>
            <a:pPr indent="0" lvl="0" marL="0" rtl="0" algn="l">
              <a:spcBef>
                <a:spcPts val="1600"/>
              </a:spcBef>
              <a:spcAft>
                <a:spcPts val="0"/>
              </a:spcAft>
              <a:buNone/>
            </a:pPr>
            <a:r>
              <a:t/>
            </a:r>
            <a:endParaRPr sz="1000"/>
          </a:p>
          <a:p>
            <a:pPr indent="0" lvl="0" marL="0" rtl="0" algn="l">
              <a:spcBef>
                <a:spcPts val="1600"/>
              </a:spcBef>
              <a:spcAft>
                <a:spcPts val="1600"/>
              </a:spcAft>
              <a:buNone/>
            </a:pPr>
            <a:r>
              <a:rPr lang="en" sz="1000"/>
              <a:t>* </a:t>
            </a:r>
            <a:r>
              <a:rPr lang="en" sz="1000"/>
              <a:t>Ø = Durchschnittswert</a:t>
            </a:r>
            <a:endParaRPr/>
          </a:p>
        </p:txBody>
      </p:sp>
      <p:pic>
        <p:nvPicPr>
          <p:cNvPr id="204" name="Google Shape;204;p32"/>
          <p:cNvPicPr preferRelativeResize="0"/>
          <p:nvPr/>
        </p:nvPicPr>
        <p:blipFill>
          <a:blip r:embed="rId3">
            <a:alphaModFix/>
          </a:blip>
          <a:stretch>
            <a:fillRect/>
          </a:stretch>
        </p:blipFill>
        <p:spPr>
          <a:xfrm>
            <a:off x="3761425" y="973738"/>
            <a:ext cx="5099901" cy="31960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226075" y="402725"/>
            <a:ext cx="2808000" cy="86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200"/>
              <a:t>Strompreise &amp; Einflussfaktoren</a:t>
            </a:r>
            <a:endParaRPr sz="2200"/>
          </a:p>
        </p:txBody>
      </p:sp>
      <p:sp>
        <p:nvSpPr>
          <p:cNvPr id="210" name="Google Shape;210;p33"/>
          <p:cNvSpPr txBox="1"/>
          <p:nvPr>
            <p:ph idx="1" type="body"/>
          </p:nvPr>
        </p:nvSpPr>
        <p:spPr>
          <a:xfrm>
            <a:off x="226075" y="1646200"/>
            <a:ext cx="2808000" cy="32940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b="1" lang="en" sz="1000"/>
              <a:t>Inhalte</a:t>
            </a:r>
            <a:endParaRPr b="1" sz="1000"/>
          </a:p>
          <a:p>
            <a:pPr indent="-292100" lvl="0" marL="457200" rtl="0" algn="l">
              <a:spcBef>
                <a:spcPts val="1600"/>
              </a:spcBef>
              <a:spcAft>
                <a:spcPts val="0"/>
              </a:spcAft>
              <a:buSzPts val="1000"/>
              <a:buChar char="●"/>
            </a:pPr>
            <a:r>
              <a:rPr lang="en" sz="1000"/>
              <a:t>Brennstoffpreisindizes für Erdgas, Steinkohle und Braunkohle</a:t>
            </a:r>
            <a:endParaRPr sz="1000"/>
          </a:p>
          <a:p>
            <a:pPr indent="-292100" lvl="0" marL="457200" rtl="0" algn="l">
              <a:spcBef>
                <a:spcPts val="0"/>
              </a:spcBef>
              <a:spcAft>
                <a:spcPts val="0"/>
              </a:spcAft>
              <a:buSzPts val="1000"/>
              <a:buChar char="●"/>
            </a:pPr>
            <a:r>
              <a:rPr lang="en" sz="1000"/>
              <a:t>Energie und Vertrieb im Vergleich zum Anteil erneuerbarer Energien</a:t>
            </a:r>
            <a:endParaRPr sz="1000"/>
          </a:p>
          <a:p>
            <a:pPr indent="-292100" lvl="0" marL="457200" rtl="0" algn="l">
              <a:spcBef>
                <a:spcPts val="0"/>
              </a:spcBef>
              <a:spcAft>
                <a:spcPts val="0"/>
              </a:spcAft>
              <a:buSzPts val="1000"/>
              <a:buChar char="●"/>
            </a:pPr>
            <a:r>
              <a:rPr lang="en" sz="1000"/>
              <a:t>Zusammenhang zwischen Brennstoffpreisen und Haushaltsstrompreisen</a:t>
            </a:r>
            <a:endParaRPr sz="1000"/>
          </a:p>
          <a:p>
            <a:pPr indent="0" lvl="0" marL="0" rtl="0" algn="l">
              <a:lnSpc>
                <a:spcPct val="100000"/>
              </a:lnSpc>
              <a:spcBef>
                <a:spcPts val="1600"/>
              </a:spcBef>
              <a:spcAft>
                <a:spcPts val="0"/>
              </a:spcAft>
              <a:buNone/>
            </a:pPr>
            <a:r>
              <a:rPr b="1" lang="en" sz="1000"/>
              <a:t>Kernaussage</a:t>
            </a:r>
            <a:endParaRPr b="1" sz="1000"/>
          </a:p>
          <a:p>
            <a:pPr indent="0" lvl="0" marL="0" rtl="0" algn="l">
              <a:lnSpc>
                <a:spcPct val="100000"/>
              </a:lnSpc>
              <a:spcBef>
                <a:spcPts val="1600"/>
              </a:spcBef>
              <a:spcAft>
                <a:spcPts val="1600"/>
              </a:spcAft>
              <a:buNone/>
            </a:pPr>
            <a:r>
              <a:rPr lang="en" sz="1000"/>
              <a:t>Ab 2022 stiegen die Brennstoffpreisindizes an und erreichten 2023 ihren Höchststand. Gleichzeitig erhöhte sich der Preisbestandteil Energie und Vertrieb, während der entlastende Effekt erneuerbarer Energien erst zeitversetzt sichtbar wurde</a:t>
            </a:r>
            <a:endParaRPr sz="1000"/>
          </a:p>
        </p:txBody>
      </p:sp>
      <p:pic>
        <p:nvPicPr>
          <p:cNvPr id="211" name="Google Shape;211;p33"/>
          <p:cNvPicPr preferRelativeResize="0"/>
          <p:nvPr/>
        </p:nvPicPr>
        <p:blipFill>
          <a:blip r:embed="rId3">
            <a:alphaModFix/>
          </a:blip>
          <a:stretch>
            <a:fillRect/>
          </a:stretch>
        </p:blipFill>
        <p:spPr>
          <a:xfrm>
            <a:off x="3463025" y="941325"/>
            <a:ext cx="5575699" cy="32608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Zentrale Analyseergebnisse </a:t>
            </a:r>
            <a:endParaRPr/>
          </a:p>
        </p:txBody>
      </p:sp>
      <p:sp>
        <p:nvSpPr>
          <p:cNvPr id="217" name="Google Shape;217;p34"/>
          <p:cNvSpPr txBox="1"/>
          <p:nvPr>
            <p:ph idx="1" type="body"/>
          </p:nvPr>
        </p:nvSpPr>
        <p:spPr>
          <a:xfrm>
            <a:off x="471900" y="1919075"/>
            <a:ext cx="8222100" cy="30567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Bis 2023 machte die Kernenergie 10,8 % des deutschen Strommixes aus</a:t>
            </a:r>
            <a:endParaRPr sz="1500"/>
          </a:p>
          <a:p>
            <a:pPr indent="-323850" lvl="0" marL="457200" rtl="0" algn="l">
              <a:spcBef>
                <a:spcPts val="0"/>
              </a:spcBef>
              <a:spcAft>
                <a:spcPts val="0"/>
              </a:spcAft>
              <a:buSzPts val="1500"/>
              <a:buChar char="●"/>
            </a:pPr>
            <a:r>
              <a:rPr lang="en" sz="1500"/>
              <a:t>Nach dem Atomausstieg veränderte sich der Strommix, und der Anteil der Erneuerbaren stieg deutlich an</a:t>
            </a:r>
            <a:endParaRPr sz="1500"/>
          </a:p>
          <a:p>
            <a:pPr indent="-323850" lvl="0" marL="457200" rtl="0" algn="l">
              <a:spcBef>
                <a:spcPts val="0"/>
              </a:spcBef>
              <a:spcAft>
                <a:spcPts val="0"/>
              </a:spcAft>
              <a:buSzPts val="1500"/>
              <a:buChar char="●"/>
            </a:pPr>
            <a:r>
              <a:rPr lang="en" sz="1500"/>
              <a:t>Kompensiert wurde die Kernenergie vor allem durch drei Faktoren: Erneuerbare, Importe und Stromeinsparungen</a:t>
            </a:r>
            <a:endParaRPr sz="1500"/>
          </a:p>
          <a:p>
            <a:pPr indent="-323850" lvl="0" marL="457200" rtl="0" algn="l">
              <a:spcBef>
                <a:spcPts val="0"/>
              </a:spcBef>
              <a:spcAft>
                <a:spcPts val="0"/>
              </a:spcAft>
              <a:buSzPts val="1500"/>
              <a:buChar char="●"/>
            </a:pPr>
            <a:r>
              <a:rPr lang="en" sz="1500"/>
              <a:t>Ab 2022 stiegen die Haushaltsstrompreise stark an, erreichten 2023 ihren Höchststand und sanken danach wieder</a:t>
            </a:r>
            <a:endParaRPr sz="1500"/>
          </a:p>
          <a:p>
            <a:pPr indent="-323850" lvl="0" marL="457200" rtl="0" algn="l">
              <a:spcBef>
                <a:spcPts val="0"/>
              </a:spcBef>
              <a:spcAft>
                <a:spcPts val="0"/>
              </a:spcAft>
              <a:buSzPts val="1500"/>
              <a:buChar char="●"/>
            </a:pPr>
            <a:r>
              <a:rPr lang="en" sz="1500"/>
              <a:t>Haupttreiber des Preisanstiegs waren die teureren Gas- und Kohlepreise sowie steigende Netzentgelte</a:t>
            </a:r>
            <a:endParaRPr sz="1700"/>
          </a:p>
          <a:p>
            <a:pPr indent="0" lvl="0" marL="0" rtl="0" algn="l">
              <a:spcBef>
                <a:spcPts val="1600"/>
              </a:spcBef>
              <a:spcAft>
                <a:spcPts val="1600"/>
              </a:spcAft>
              <a:buNone/>
            </a:pPr>
            <a:r>
              <a:t/>
            </a:r>
            <a:endParaRPr b="1"/>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471900" y="738725"/>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Gesamtfazit</a:t>
            </a:r>
            <a:endParaRPr/>
          </a:p>
        </p:txBody>
      </p:sp>
      <p:sp>
        <p:nvSpPr>
          <p:cNvPr id="223" name="Google Shape;223;p35"/>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Bis April 2023 lieferte die Kernenergie knapp 11 % des Stroms. Nach dem Ausstieg übernahmen primär die Erneuerbaren, unterstützt durch Importe und einen sinkenden Verbrauch. Die Strompreise peakten 2023 massiv. Haupttreiber waren dabei nicht der Atomausstieg, sondern die explodierenden Gas- und Kohlepreise sowie steigende Netzentgelte.</a:t>
            </a:r>
            <a:endParaRPr sz="1600"/>
          </a:p>
          <a:p>
            <a:pPr indent="0" lvl="0" marL="457200" rtl="0" algn="l">
              <a:spcBef>
                <a:spcPts val="1600"/>
              </a:spcBef>
              <a:spcAft>
                <a:spcPts val="1600"/>
              </a:spcAft>
              <a:buNone/>
            </a:pPr>
            <a:r>
              <a:t/>
            </a:r>
            <a:endParaRPr b="1"/>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273200" y="651775"/>
            <a:ext cx="2808000" cy="26589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sz="1500"/>
              <a:t>Die Spiegel-Veröffentlichung vom 18. Mai 2026 zeigt, dass sich das deutsche Stromsystem auch nach dem Wegfall der Kernenergie stabil weiterentwickelt hat. Erneuerbare Energien und der Stromhandel spielen dabei weiterhin eine wichtige Rolle.</a:t>
            </a:r>
            <a:endParaRPr sz="1500"/>
          </a:p>
        </p:txBody>
      </p:sp>
      <p:sp>
        <p:nvSpPr>
          <p:cNvPr id="229" name="Google Shape;229;p36"/>
          <p:cNvSpPr txBox="1"/>
          <p:nvPr>
            <p:ph idx="1" type="body"/>
          </p:nvPr>
        </p:nvSpPr>
        <p:spPr>
          <a:xfrm>
            <a:off x="273200" y="4468175"/>
            <a:ext cx="2808000" cy="5538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  </a:t>
            </a:r>
            <a:endParaRPr/>
          </a:p>
        </p:txBody>
      </p:sp>
      <p:sp>
        <p:nvSpPr>
          <p:cNvPr id="230" name="Google Shape;230;p36"/>
          <p:cNvSpPr txBox="1"/>
          <p:nvPr/>
        </p:nvSpPr>
        <p:spPr>
          <a:xfrm>
            <a:off x="3549400" y="4468225"/>
            <a:ext cx="5049300" cy="553800"/>
          </a:xfrm>
          <a:prstGeom prst="rect">
            <a:avLst/>
          </a:prstGeom>
          <a:noFill/>
          <a:ln>
            <a:noFill/>
          </a:ln>
        </p:spPr>
        <p:txBody>
          <a:bodyPr anchorCtr="0" anchor="t" bIns="91425" lIns="91425" spcFirstLastPara="1" rIns="91425" wrap="square" tIns="91425">
            <a:normAutofit fontScale="47500" lnSpcReduction="20000"/>
          </a:bodyPr>
          <a:lstStyle/>
          <a:p>
            <a:pPr indent="0" lvl="0" marL="0" rtl="0" algn="ctr">
              <a:spcBef>
                <a:spcPts val="0"/>
              </a:spcBef>
              <a:spcAft>
                <a:spcPts val="0"/>
              </a:spcAft>
              <a:buNone/>
            </a:pPr>
            <a:r>
              <a:t/>
            </a:r>
            <a:endParaRPr b="1" sz="1800">
              <a:solidFill>
                <a:schemeClr val="lt2"/>
              </a:solidFill>
              <a:latin typeface="Roboto"/>
              <a:ea typeface="Roboto"/>
              <a:cs typeface="Roboto"/>
              <a:sym typeface="Roboto"/>
            </a:endParaRPr>
          </a:p>
          <a:p>
            <a:pPr indent="0" lvl="0" marL="0" rtl="0" algn="ctr">
              <a:spcBef>
                <a:spcPts val="0"/>
              </a:spcBef>
              <a:spcAft>
                <a:spcPts val="0"/>
              </a:spcAft>
              <a:buNone/>
            </a:pPr>
            <a:r>
              <a:rPr b="1" lang="en" sz="2261">
                <a:solidFill>
                  <a:schemeClr val="lt2"/>
                </a:solidFill>
                <a:latin typeface="Roboto"/>
                <a:ea typeface="Roboto"/>
                <a:cs typeface="Roboto"/>
                <a:sym typeface="Roboto"/>
              </a:rPr>
              <a:t>Vielen Dank für Ihre Aufmerksamkeit!</a:t>
            </a:r>
            <a:endParaRPr b="1" sz="2261">
              <a:solidFill>
                <a:schemeClr val="lt2"/>
              </a:solidFill>
              <a:latin typeface="Roboto"/>
              <a:ea typeface="Roboto"/>
              <a:cs typeface="Roboto"/>
              <a:sym typeface="Roboto"/>
            </a:endParaRPr>
          </a:p>
          <a:p>
            <a:pPr indent="0" lvl="0" marL="0" rtl="0" algn="ctr">
              <a:spcBef>
                <a:spcPts val="0"/>
              </a:spcBef>
              <a:spcAft>
                <a:spcPts val="0"/>
              </a:spcAft>
              <a:buNone/>
            </a:pPr>
            <a:r>
              <a:t/>
            </a:r>
            <a:endParaRPr sz="1800">
              <a:solidFill>
                <a:schemeClr val="lt2"/>
              </a:solidFill>
              <a:latin typeface="Roboto"/>
              <a:ea typeface="Roboto"/>
              <a:cs typeface="Roboto"/>
              <a:sym typeface="Roboto"/>
            </a:endParaRPr>
          </a:p>
        </p:txBody>
      </p:sp>
      <p:pic>
        <p:nvPicPr>
          <p:cNvPr id="231" name="Google Shape;231;p36"/>
          <p:cNvPicPr preferRelativeResize="0"/>
          <p:nvPr/>
        </p:nvPicPr>
        <p:blipFill>
          <a:blip r:embed="rId3">
            <a:alphaModFix/>
          </a:blip>
          <a:stretch>
            <a:fillRect/>
          </a:stretch>
        </p:blipFill>
        <p:spPr>
          <a:xfrm>
            <a:off x="4104078" y="304800"/>
            <a:ext cx="3939936" cy="40377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